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AWS-IQ — Architecture &amp; Workflow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· event-driven · multi-agent — a request's journey end to end on AWS.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727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716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· org chart · live progress · AI chat · FAQ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3776" y="1261872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63624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8928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355080" y="1371600"/>
            <a:ext cx="528523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57276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371600"/>
            <a:ext cx="4279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(OAuth/JWT) · routing · rate limiting · TLS 1.3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300216" y="1261872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300216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139696"/>
            <a:ext cx="329184" cy="3291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48640" y="2542032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88336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2542032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  </a:t>
            </a:r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Amazon Bedrock Multi-Agent Collaboration (supervisor pattern) — routes, aggregates, tracks state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493776" y="243230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493776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2748" y="3255264"/>
            <a:ext cx="329184" cy="329184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316" y="3255264"/>
            <a:ext cx="329184" cy="329184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9884" y="3255264"/>
            <a:ext cx="329184" cy="329184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8452" y="3255264"/>
            <a:ext cx="329184" cy="329184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7020" y="3255264"/>
            <a:ext cx="329184" cy="329184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548640" y="3611880"/>
            <a:ext cx="20574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16"/>
          <p:cNvSpPr/>
          <p:nvPr/>
        </p:nvSpPr>
        <p:spPr>
          <a:xfrm>
            <a:off x="1239012" y="3794760"/>
            <a:ext cx="676656" cy="676656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6172" y="3931920"/>
            <a:ext cx="402336" cy="402336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40080" y="45262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550" dirty="0"/>
          </a:p>
        </p:txBody>
      </p:sp>
      <p:sp>
        <p:nvSpPr>
          <p:cNvPr id="31" name="Text 18"/>
          <p:cNvSpPr/>
          <p:nvPr/>
        </p:nvSpPr>
        <p:spPr>
          <a:xfrm>
            <a:off x="621792" y="482803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org chart</a:t>
            </a:r>
            <a:endParaRPr lang="en-US" sz="1100" dirty="0"/>
          </a:p>
        </p:txBody>
      </p:sp>
      <p:sp>
        <p:nvSpPr>
          <p:cNvPr id="32" name="Shape 19"/>
          <p:cNvSpPr/>
          <p:nvPr/>
        </p:nvSpPr>
        <p:spPr>
          <a:xfrm>
            <a:off x="777240" y="4892040"/>
            <a:ext cx="0" cy="0"/>
          </a:xfrm>
          <a:prstGeom prst="roundRect">
            <a:avLst/>
          </a:prstGeom>
          <a:noFill/>
          <a:ln/>
        </p:spPr>
      </p:sp>
      <p:sp>
        <p:nvSpPr>
          <p:cNvPr id="33" name="Shape 20"/>
          <p:cNvSpPr/>
          <p:nvPr/>
        </p:nvSpPr>
        <p:spPr>
          <a:xfrm>
            <a:off x="2807208" y="3611880"/>
            <a:ext cx="20574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1"/>
          <p:cNvSpPr/>
          <p:nvPr/>
        </p:nvSpPr>
        <p:spPr>
          <a:xfrm>
            <a:off x="3497580" y="3794760"/>
            <a:ext cx="676656" cy="676656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4740" y="3931920"/>
            <a:ext cx="402336" cy="402336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2898648" y="45262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550" dirty="0"/>
          </a:p>
        </p:txBody>
      </p:sp>
      <p:sp>
        <p:nvSpPr>
          <p:cNvPr id="37" name="Text 23"/>
          <p:cNvSpPr/>
          <p:nvPr/>
        </p:nvSpPr>
        <p:spPr>
          <a:xfrm>
            <a:off x="2880360" y="482803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IT access</a:t>
            </a:r>
            <a:endParaRPr lang="en-US" sz="1100" dirty="0"/>
          </a:p>
        </p:txBody>
      </p:sp>
      <p:sp>
        <p:nvSpPr>
          <p:cNvPr id="38" name="Shape 24"/>
          <p:cNvSpPr/>
          <p:nvPr/>
        </p:nvSpPr>
        <p:spPr>
          <a:xfrm>
            <a:off x="3035808" y="4892040"/>
            <a:ext cx="0" cy="0"/>
          </a:xfrm>
          <a:prstGeom prst="roundRect">
            <a:avLst/>
          </a:prstGeom>
          <a:noFill/>
          <a:ln/>
        </p:spPr>
      </p:sp>
      <p:sp>
        <p:nvSpPr>
          <p:cNvPr id="39" name="Shape 25"/>
          <p:cNvSpPr/>
          <p:nvPr/>
        </p:nvSpPr>
        <p:spPr>
          <a:xfrm>
            <a:off x="5065776" y="3611880"/>
            <a:ext cx="20574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0" name="Shape 26"/>
          <p:cNvSpPr/>
          <p:nvPr/>
        </p:nvSpPr>
        <p:spPr>
          <a:xfrm>
            <a:off x="5756148" y="3794760"/>
            <a:ext cx="676656" cy="676656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93308" y="3931920"/>
            <a:ext cx="402336" cy="402336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5157216" y="45262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550" dirty="0"/>
          </a:p>
        </p:txBody>
      </p:sp>
      <p:sp>
        <p:nvSpPr>
          <p:cNvPr id="43" name="Text 28"/>
          <p:cNvSpPr/>
          <p:nvPr/>
        </p:nvSpPr>
        <p:spPr>
          <a:xfrm>
            <a:off x="5138928" y="482803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+ citations</a:t>
            </a:r>
            <a:endParaRPr lang="en-US" sz="1100" dirty="0"/>
          </a:p>
        </p:txBody>
      </p:sp>
      <p:sp>
        <p:nvSpPr>
          <p:cNvPr id="44" name="Shape 29"/>
          <p:cNvSpPr/>
          <p:nvPr/>
        </p:nvSpPr>
        <p:spPr>
          <a:xfrm>
            <a:off x="5294376" y="4892040"/>
            <a:ext cx="0" cy="0"/>
          </a:xfrm>
          <a:prstGeom prst="roundRect">
            <a:avLst/>
          </a:prstGeom>
          <a:noFill/>
          <a:ln/>
        </p:spPr>
      </p:sp>
      <p:sp>
        <p:nvSpPr>
          <p:cNvPr id="45" name="Shape 30"/>
          <p:cNvSpPr/>
          <p:nvPr/>
        </p:nvSpPr>
        <p:spPr>
          <a:xfrm>
            <a:off x="7324344" y="3611880"/>
            <a:ext cx="20574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6" name="Shape 31"/>
          <p:cNvSpPr/>
          <p:nvPr/>
        </p:nvSpPr>
        <p:spPr>
          <a:xfrm>
            <a:off x="8014716" y="3794760"/>
            <a:ext cx="676656" cy="676656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1876" y="3931920"/>
            <a:ext cx="402336" cy="402336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7415784" y="45262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550" dirty="0"/>
          </a:p>
        </p:txBody>
      </p:sp>
      <p:sp>
        <p:nvSpPr>
          <p:cNvPr id="49" name="Text 33"/>
          <p:cNvSpPr/>
          <p:nvPr/>
        </p:nvSpPr>
        <p:spPr>
          <a:xfrm>
            <a:off x="7397496" y="482803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· Teams · cal</a:t>
            </a:r>
            <a:endParaRPr lang="en-US" sz="1100" dirty="0"/>
          </a:p>
        </p:txBody>
      </p:sp>
      <p:sp>
        <p:nvSpPr>
          <p:cNvPr id="50" name="Shape 34"/>
          <p:cNvSpPr/>
          <p:nvPr/>
        </p:nvSpPr>
        <p:spPr>
          <a:xfrm>
            <a:off x="7552944" y="4892040"/>
            <a:ext cx="0" cy="0"/>
          </a:xfrm>
          <a:prstGeom prst="roundRect">
            <a:avLst/>
          </a:prstGeom>
          <a:noFill/>
          <a:ln/>
        </p:spPr>
      </p:sp>
      <p:sp>
        <p:nvSpPr>
          <p:cNvPr id="51" name="Shape 35"/>
          <p:cNvSpPr/>
          <p:nvPr/>
        </p:nvSpPr>
        <p:spPr>
          <a:xfrm>
            <a:off x="9582912" y="3611880"/>
            <a:ext cx="205740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2" name="Shape 36"/>
          <p:cNvSpPr/>
          <p:nvPr/>
        </p:nvSpPr>
        <p:spPr>
          <a:xfrm>
            <a:off x="10273284" y="3794760"/>
            <a:ext cx="676656" cy="676656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10444" y="3931920"/>
            <a:ext cx="402336" cy="402336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9674352" y="45262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Task</a:t>
            </a:r>
            <a:endParaRPr lang="en-US" sz="1550" dirty="0"/>
          </a:p>
        </p:txBody>
      </p:sp>
      <p:sp>
        <p:nvSpPr>
          <p:cNvPr id="55" name="Text 38"/>
          <p:cNvSpPr/>
          <p:nvPr/>
        </p:nvSpPr>
        <p:spPr>
          <a:xfrm>
            <a:off x="9656064" y="482803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incidents</a:t>
            </a:r>
            <a:endParaRPr lang="en-US" sz="1100" dirty="0"/>
          </a:p>
        </p:txBody>
      </p:sp>
      <p:sp>
        <p:nvSpPr>
          <p:cNvPr id="56" name="Shape 39"/>
          <p:cNvSpPr/>
          <p:nvPr/>
        </p:nvSpPr>
        <p:spPr>
          <a:xfrm>
            <a:off x="9811512" y="4892040"/>
            <a:ext cx="0" cy="0"/>
          </a:xfrm>
          <a:prstGeom prst="roundRect">
            <a:avLst/>
          </a:prstGeom>
          <a:noFill/>
          <a:ln/>
        </p:spPr>
      </p:sp>
      <p:sp>
        <p:nvSpPr>
          <p:cNvPr id="57" name="Text 40"/>
          <p:cNvSpPr/>
          <p:nvPr/>
        </p:nvSpPr>
        <p:spPr>
          <a:xfrm>
            <a:off x="621792" y="498348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58" name="Text 41"/>
          <p:cNvSpPr/>
          <p:nvPr/>
        </p:nvSpPr>
        <p:spPr>
          <a:xfrm>
            <a:off x="2880360" y="498348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jobs</a:t>
            </a:r>
            <a:endParaRPr lang="en-US" sz="1100" dirty="0"/>
          </a:p>
        </p:txBody>
      </p:sp>
      <p:sp>
        <p:nvSpPr>
          <p:cNvPr id="59" name="Text 42"/>
          <p:cNvSpPr/>
          <p:nvPr/>
        </p:nvSpPr>
        <p:spPr>
          <a:xfrm>
            <a:off x="5138928" y="498348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KB</a:t>
            </a:r>
            <a:endParaRPr lang="en-US" sz="1100" dirty="0"/>
          </a:p>
        </p:txBody>
      </p:sp>
      <p:sp>
        <p:nvSpPr>
          <p:cNvPr id="60" name="Text 43"/>
          <p:cNvSpPr/>
          <p:nvPr/>
        </p:nvSpPr>
        <p:spPr>
          <a:xfrm>
            <a:off x="7397496" y="498348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SES</a:t>
            </a:r>
            <a:endParaRPr lang="en-US" sz="1100" dirty="0"/>
          </a:p>
        </p:txBody>
      </p:sp>
      <p:sp>
        <p:nvSpPr>
          <p:cNvPr id="61" name="Text 44"/>
          <p:cNvSpPr/>
          <p:nvPr/>
        </p:nvSpPr>
        <p:spPr>
          <a:xfrm>
            <a:off x="9656064" y="498348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62" name="Shape 45"/>
          <p:cNvSpPr/>
          <p:nvPr/>
        </p:nvSpPr>
        <p:spPr>
          <a:xfrm>
            <a:off x="493776" y="3502152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63" name="Text 46"/>
          <p:cNvSpPr/>
          <p:nvPr/>
        </p:nvSpPr>
        <p:spPr>
          <a:xfrm>
            <a:off x="493776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6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16168" y="5239512"/>
            <a:ext cx="329184" cy="329184"/>
          </a:xfrm>
          <a:prstGeom prst="rect">
            <a:avLst/>
          </a:prstGeom>
        </p:spPr>
      </p:pic>
      <p:sp>
        <p:nvSpPr>
          <p:cNvPr id="65" name="Shape 47"/>
          <p:cNvSpPr/>
          <p:nvPr/>
        </p:nvSpPr>
        <p:spPr>
          <a:xfrm>
            <a:off x="548640" y="5650992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6" name="Text 48"/>
          <p:cNvSpPr/>
          <p:nvPr/>
        </p:nvSpPr>
        <p:spPr>
          <a:xfrm>
            <a:off x="1051560" y="5705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 SERVICES</a:t>
            </a:r>
            <a:endParaRPr lang="en-US" sz="950" dirty="0"/>
          </a:p>
        </p:txBody>
      </p:sp>
      <p:sp>
        <p:nvSpPr>
          <p:cNvPr id="67" name="Shape 49"/>
          <p:cNvSpPr/>
          <p:nvPr/>
        </p:nvSpPr>
        <p:spPr>
          <a:xfrm>
            <a:off x="777240" y="5961888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1A2330"/>
          </a:solidFill>
          <a:ln w="12700">
            <a:solidFill>
              <a:srgbClr val="3C4C60"/>
            </a:solidFill>
            <a:prstDash val="solid"/>
          </a:ln>
        </p:spPr>
      </p:sp>
      <p:pic>
        <p:nvPicPr>
          <p:cNvPr id="6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832" y="6053328"/>
            <a:ext cx="201168" cy="201168"/>
          </a:xfrm>
          <a:prstGeom prst="rect">
            <a:avLst/>
          </a:prstGeom>
        </p:spPr>
      </p:pic>
      <p:sp>
        <p:nvSpPr>
          <p:cNvPr id="69" name="Text 50"/>
          <p:cNvSpPr/>
          <p:nvPr/>
        </p:nvSpPr>
        <p:spPr>
          <a:xfrm>
            <a:off x="1197864" y="596188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50" dirty="0"/>
          </a:p>
        </p:txBody>
      </p:sp>
      <p:sp>
        <p:nvSpPr>
          <p:cNvPr id="70" name="Shape 51"/>
          <p:cNvSpPr/>
          <p:nvPr/>
        </p:nvSpPr>
        <p:spPr>
          <a:xfrm>
            <a:off x="2942082" y="5961888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1A2330"/>
          </a:solidFill>
          <a:ln w="12700">
            <a:solidFill>
              <a:srgbClr val="3C4C60"/>
            </a:solidFill>
            <a:prstDash val="solid"/>
          </a:ln>
        </p:spPr>
      </p:sp>
      <p:pic>
        <p:nvPicPr>
          <p:cNvPr id="7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06674" y="6053328"/>
            <a:ext cx="201168" cy="201168"/>
          </a:xfrm>
          <a:prstGeom prst="rect">
            <a:avLst/>
          </a:prstGeom>
        </p:spPr>
      </p:pic>
      <p:sp>
        <p:nvSpPr>
          <p:cNvPr id="72" name="Text 52"/>
          <p:cNvSpPr/>
          <p:nvPr/>
        </p:nvSpPr>
        <p:spPr>
          <a:xfrm>
            <a:off x="3362706" y="596188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73" name="Shape 53"/>
          <p:cNvSpPr/>
          <p:nvPr/>
        </p:nvSpPr>
        <p:spPr>
          <a:xfrm>
            <a:off x="5106924" y="5961888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1A2330"/>
          </a:solidFill>
          <a:ln w="12700">
            <a:solidFill>
              <a:srgbClr val="3C4C60"/>
            </a:solidFill>
            <a:prstDash val="solid"/>
          </a:ln>
        </p:spPr>
      </p:sp>
      <p:pic>
        <p:nvPicPr>
          <p:cNvPr id="7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71516" y="6053328"/>
            <a:ext cx="201168" cy="201168"/>
          </a:xfrm>
          <a:prstGeom prst="rect">
            <a:avLst/>
          </a:prstGeom>
        </p:spPr>
      </p:pic>
      <p:sp>
        <p:nvSpPr>
          <p:cNvPr id="75" name="Text 54"/>
          <p:cNvSpPr/>
          <p:nvPr/>
        </p:nvSpPr>
        <p:spPr>
          <a:xfrm>
            <a:off x="5527548" y="596188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KB</a:t>
            </a:r>
            <a:endParaRPr lang="en-US" sz="1250" dirty="0"/>
          </a:p>
        </p:txBody>
      </p:sp>
      <p:sp>
        <p:nvSpPr>
          <p:cNvPr id="76" name="Shape 55"/>
          <p:cNvSpPr/>
          <p:nvPr/>
        </p:nvSpPr>
        <p:spPr>
          <a:xfrm>
            <a:off x="7271766" y="5961888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1A2330"/>
          </a:solidFill>
          <a:ln w="12700">
            <a:solidFill>
              <a:srgbClr val="3C4C60"/>
            </a:solidFill>
            <a:prstDash val="solid"/>
          </a:ln>
        </p:spPr>
      </p:sp>
      <p:pic>
        <p:nvPicPr>
          <p:cNvPr id="7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36358" y="6053328"/>
            <a:ext cx="201168" cy="201168"/>
          </a:xfrm>
          <a:prstGeom prst="rect">
            <a:avLst/>
          </a:prstGeom>
        </p:spPr>
      </p:pic>
      <p:sp>
        <p:nvSpPr>
          <p:cNvPr id="78" name="Text 56"/>
          <p:cNvSpPr/>
          <p:nvPr/>
        </p:nvSpPr>
        <p:spPr>
          <a:xfrm>
            <a:off x="7692390" y="596188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SES</a:t>
            </a:r>
            <a:endParaRPr lang="en-US" sz="1250" dirty="0"/>
          </a:p>
        </p:txBody>
      </p:sp>
      <p:sp>
        <p:nvSpPr>
          <p:cNvPr id="79" name="Shape 57"/>
          <p:cNvSpPr/>
          <p:nvPr/>
        </p:nvSpPr>
        <p:spPr>
          <a:xfrm>
            <a:off x="9436608" y="5961888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1A2330"/>
          </a:solidFill>
          <a:ln w="12700">
            <a:solidFill>
              <a:srgbClr val="3C4C60"/>
            </a:solidFill>
            <a:prstDash val="solid"/>
          </a:ln>
        </p:spPr>
      </p:sp>
      <p:pic>
        <p:nvPicPr>
          <p:cNvPr id="8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01200" y="6053328"/>
            <a:ext cx="201168" cy="201168"/>
          </a:xfrm>
          <a:prstGeom prst="rect">
            <a:avLst/>
          </a:prstGeom>
        </p:spPr>
      </p:pic>
      <p:sp>
        <p:nvSpPr>
          <p:cNvPr id="81" name="Text 58"/>
          <p:cNvSpPr/>
          <p:nvPr/>
        </p:nvSpPr>
        <p:spPr>
          <a:xfrm>
            <a:off x="9857232" y="596188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250" dirty="0"/>
          </a:p>
        </p:txBody>
      </p:sp>
      <p:sp>
        <p:nvSpPr>
          <p:cNvPr id="82" name="Shape 59"/>
          <p:cNvSpPr/>
          <p:nvPr/>
        </p:nvSpPr>
        <p:spPr>
          <a:xfrm>
            <a:off x="493776" y="554126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83" name="Text 60"/>
          <p:cNvSpPr/>
          <p:nvPr/>
        </p:nvSpPr>
        <p:spPr>
          <a:xfrm>
            <a:off x="493776" y="5541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84" name="Text 61"/>
          <p:cNvSpPr/>
          <p:nvPr/>
        </p:nvSpPr>
        <p:spPr>
          <a:xfrm>
            <a:off x="548640" y="65105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Step 6:  </a:t>
            </a:r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responses are aggregated by the orchestrator and streamed back to the dashboard in real time (WebSocket).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AWS-IQ Architecture</dc:title>
  <dc:subject>PptxGenJS Presentation</dc:subject>
  <dc:creator>Eileen</dc:creator>
  <cp:lastModifiedBy>Eileen</cp:lastModifiedBy>
  <cp:revision>1</cp:revision>
  <dcterms:created xsi:type="dcterms:W3CDTF">2026-06-28T05:19:37Z</dcterms:created>
  <dcterms:modified xsi:type="dcterms:W3CDTF">2026-06-28T05:19:37Z</dcterms:modified>
</cp:coreProperties>
</file>