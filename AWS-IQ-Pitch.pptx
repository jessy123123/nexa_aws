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judges — we're AWS-IQ. The problem we attack: getting a new hire fully set up — profile, IT access, knowledge, comms, day-one tasks — normally takes weeks of manual back-and-forth across IT, HR and managers. We rebuilt the whole thing as a coordinated team of AI agents on Amazon Bedrock that does it in minutes. (~25s)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pain. A new hire takes two to three weeks to get productive. Seven-plus systems get provisioned by hand. Three different teams — IT, HR, the manager — chase each other over email. And on day one the hire has no tasks, no answers, no context. The result is frustration and weeks of lost momentum.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one orchestrator and five specialist agents, with zero manual handoffs. It's built on Amazon Bedrock Multi-Agent Collaboration in a supervisor pattern. The orchestrator reads each request, routes it to the right specialist — profile, setup, knowledge, communication, or daily task — then aggregates everything back into one response and tracks overall progress.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owns one domain. Profile builds your card and an interactive org chart with Teams and email deeplinks. Setup provisions all seven systems — VPN, email, SharePoint, Workday, software. Knowledge gives RAG answers filtered by your role and security clearance, always with citations. Communication sends welcome emails, Teams posts and manager briefings. And Daily Task surfaces your day-one tasks, incidents and training in real time. Single responsibility each — all coordinated by the orchestrator.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serverless end to end. The dashboard hits API Gateway, which authenticates and routes to the orchestrator. The orchestrator drives the Bedrock agents, which call Python Lambda functions, which read and write the data layer — DynamoDB, S3, and the Bedrock Knowledge Base. Everything is AWS managed services, so it scales and there's nothing to babysit.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all lands in one live dashboard — no page refresh, updates stream in over WebSockets. The hire sees their profile card, an interactive org chart where one click opens a Teams DM or email, a live setup progress bar as each system gets provisioned, their day-one tasks and incidents, an AI chat assistant that gives cited role-aware answers, and a searchable FAQ. Everything they need on day one, in one place.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win? It collapses onboarding from weeks to minutes. It's a true multi-agent system — a real Bedrock supervisor pattern, not one giant prompt pretending to be agents. It's secure by design with role and clearance filtering and least-privilege IAM. And it's fully serverless, so it onboards many hires at once with zero ops overhead. Faster hires, lighter IT, a happier day one. (~30s)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AWS-IQ — onboarding reimagined as a team of AI agents on Amazon Bedrock. Thank you, and we'd love your questions. (~10s)  TOTAL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777240"/>
            <a:ext cx="256032" cy="256032"/>
          </a:xfrm>
          <a:prstGeom prst="ellipse">
            <a:avLst/>
          </a:prstGeom>
          <a:solidFill>
            <a:srgbClr val="FF9900"/>
          </a:solidFill>
          <a:ln/>
        </p:spPr>
      </p:sp>
      <p:sp>
        <p:nvSpPr>
          <p:cNvPr id="3" name="Text 1"/>
          <p:cNvSpPr/>
          <p:nvPr/>
        </p:nvSpPr>
        <p:spPr>
          <a:xfrm>
            <a:off x="1234440" y="749808"/>
            <a:ext cx="8229600" cy="320040"/>
          </a:xfrm>
          <a:prstGeom prst="rect">
            <a:avLst/>
          </a:prstGeom>
          <a:noFill/>
          <a:ln/>
        </p:spPr>
        <p:txBody>
          <a:bodyPr wrap="square" lIns="0" tIns="0" rIns="0" bIns="0" rtlCol="0" anchor="ctr"/>
          <a:lstStyle/>
          <a:p>
            <a:pPr indent="0" marL="0">
              <a:buNone/>
            </a:pPr>
            <a:r>
              <a:rPr lang="en-US" sz="1300" b="1" spc="300" kern="0" dirty="0">
                <a:solidFill>
                  <a:srgbClr val="FF9900"/>
                </a:solidFill>
                <a:latin typeface="Calibri" pitchFamily="34" charset="0"/>
                <a:ea typeface="Calibri" pitchFamily="34" charset="-122"/>
                <a:cs typeface="Calibri" pitchFamily="34" charset="-120"/>
              </a:rPr>
              <a:t>AMAZON BEDROCK · MULTI-AGENT COLLABORATION</a:t>
            </a:r>
            <a:endParaRPr lang="en-US" sz="1300" dirty="0"/>
          </a:p>
        </p:txBody>
      </p:sp>
      <p:sp>
        <p:nvSpPr>
          <p:cNvPr id="4" name="Text 2"/>
          <p:cNvSpPr/>
          <p:nvPr/>
        </p:nvSpPr>
        <p:spPr>
          <a:xfrm>
            <a:off x="822960" y="1874520"/>
            <a:ext cx="10515600" cy="1554480"/>
          </a:xfrm>
          <a:prstGeom prst="rect">
            <a:avLst/>
          </a:prstGeom>
          <a:noFill/>
          <a:ln/>
        </p:spPr>
        <p:txBody>
          <a:bodyPr wrap="square" lIns="0" tIns="0" rIns="0" bIns="0"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AWS-IQ</a:t>
            </a:r>
            <a:endParaRPr lang="en-US" sz="9600" dirty="0"/>
          </a:p>
        </p:txBody>
      </p:sp>
      <p:sp>
        <p:nvSpPr>
          <p:cNvPr id="5" name="Text 3"/>
          <p:cNvSpPr/>
          <p:nvPr/>
        </p:nvSpPr>
        <p:spPr>
          <a:xfrm>
            <a:off x="841248" y="3429000"/>
            <a:ext cx="9875520" cy="822960"/>
          </a:xfrm>
          <a:prstGeom prst="rect">
            <a:avLst/>
          </a:prstGeom>
          <a:noFill/>
          <a:ln/>
        </p:spPr>
        <p:txBody>
          <a:bodyPr wrap="square" lIns="0" tIns="0" rIns="0" bIns="0" rtlCol="0" anchor="ctr"/>
          <a:lstStyle/>
          <a:p>
            <a:pPr indent="0" marL="0">
              <a:buNone/>
            </a:pPr>
            <a:r>
              <a:rPr lang="en-US" sz="2400" dirty="0">
                <a:solidFill>
                  <a:srgbClr val="CFD8E3"/>
                </a:solidFill>
                <a:latin typeface="Calibri" pitchFamily="34" charset="0"/>
                <a:ea typeface="Calibri" pitchFamily="34" charset="-122"/>
                <a:cs typeface="Calibri" pitchFamily="34" charset="-120"/>
              </a:rPr>
              <a:t>The multi-agent system that onboards new hires in minutes — not weeks.</a:t>
            </a:r>
            <a:endParaRPr lang="en-US" sz="2400" dirty="0"/>
          </a:p>
        </p:txBody>
      </p:sp>
      <p:sp>
        <p:nvSpPr>
          <p:cNvPr id="6" name="Shape 4"/>
          <p:cNvSpPr/>
          <p:nvPr/>
        </p:nvSpPr>
        <p:spPr>
          <a:xfrm>
            <a:off x="841248" y="5715000"/>
            <a:ext cx="1764792" cy="475488"/>
          </a:xfrm>
          <a:prstGeom prst="roundRect">
            <a:avLst>
              <a:gd name="adj" fmla="val 50000"/>
            </a:avLst>
          </a:prstGeom>
          <a:solidFill>
            <a:srgbClr val="FF9900"/>
          </a:solidFill>
          <a:ln w="12700">
            <a:solidFill>
              <a:srgbClr val="FF9900"/>
            </a:solidFill>
            <a:prstDash val="solid"/>
          </a:ln>
        </p:spPr>
      </p:sp>
      <p:sp>
        <p:nvSpPr>
          <p:cNvPr id="7" name="Text 5"/>
          <p:cNvSpPr/>
          <p:nvPr/>
        </p:nvSpPr>
        <p:spPr>
          <a:xfrm>
            <a:off x="841248" y="5715000"/>
            <a:ext cx="1764792" cy="475488"/>
          </a:xfrm>
          <a:prstGeom prst="rect">
            <a:avLst/>
          </a:prstGeom>
          <a:noFill/>
          <a:ln/>
        </p:spPr>
        <p:txBody>
          <a:bodyPr wrap="square" lIns="0" tIns="0" rIns="0" bIns="0" rtlCol="0" anchor="ctr"/>
          <a:lstStyle/>
          <a:p>
            <a:pPr algn="ctr" indent="0" marL="0">
              <a:buNone/>
            </a:pPr>
            <a:r>
              <a:rPr lang="en-US" sz="1250" b="1" dirty="0">
                <a:solidFill>
                  <a:srgbClr val="232F3E"/>
                </a:solidFill>
                <a:latin typeface="Calibri" pitchFamily="34" charset="0"/>
                <a:ea typeface="Calibri" pitchFamily="34" charset="-122"/>
                <a:cs typeface="Calibri" pitchFamily="34" charset="-120"/>
              </a:rPr>
              <a:t>Orchestrator</a:t>
            </a:r>
            <a:endParaRPr lang="en-US" sz="1250" dirty="0"/>
          </a:p>
        </p:txBody>
      </p:sp>
      <p:sp>
        <p:nvSpPr>
          <p:cNvPr id="8" name="Shape 6"/>
          <p:cNvSpPr/>
          <p:nvPr/>
        </p:nvSpPr>
        <p:spPr>
          <a:xfrm>
            <a:off x="2770632" y="5715000"/>
            <a:ext cx="1239012" cy="475488"/>
          </a:xfrm>
          <a:prstGeom prst="roundRect">
            <a:avLst>
              <a:gd name="adj" fmla="val 50000"/>
            </a:avLst>
          </a:prstGeom>
          <a:solidFill>
            <a:srgbClr val="2E3B4E"/>
          </a:solidFill>
          <a:ln w="12700">
            <a:solidFill>
              <a:srgbClr val="3C4C60"/>
            </a:solidFill>
            <a:prstDash val="solid"/>
          </a:ln>
        </p:spPr>
      </p:sp>
      <p:sp>
        <p:nvSpPr>
          <p:cNvPr id="9" name="Text 7"/>
          <p:cNvSpPr/>
          <p:nvPr/>
        </p:nvSpPr>
        <p:spPr>
          <a:xfrm>
            <a:off x="2770632" y="5715000"/>
            <a:ext cx="1239012" cy="475488"/>
          </a:xfrm>
          <a:prstGeom prst="rect">
            <a:avLst/>
          </a:prstGeom>
          <a:noFill/>
          <a:ln/>
        </p:spPr>
        <p:txBody>
          <a:bodyPr wrap="square" lIns="0" tIns="0" rIns="0" bIns="0" rtlCol="0" anchor="ctr"/>
          <a:lstStyle/>
          <a:p>
            <a:pPr algn="ctr" indent="0" marL="0">
              <a:buNone/>
            </a:pPr>
            <a:r>
              <a:rPr lang="en-US" sz="1250" b="1" dirty="0">
                <a:solidFill>
                  <a:srgbClr val="C9D3DF"/>
                </a:solidFill>
                <a:latin typeface="Calibri" pitchFamily="34" charset="0"/>
                <a:ea typeface="Calibri" pitchFamily="34" charset="-122"/>
                <a:cs typeface="Calibri" pitchFamily="34" charset="-120"/>
              </a:rPr>
              <a:t>Profile</a:t>
            </a:r>
            <a:endParaRPr lang="en-US" sz="1250" dirty="0"/>
          </a:p>
        </p:txBody>
      </p:sp>
      <p:sp>
        <p:nvSpPr>
          <p:cNvPr id="10" name="Shape 8"/>
          <p:cNvSpPr/>
          <p:nvPr/>
        </p:nvSpPr>
        <p:spPr>
          <a:xfrm>
            <a:off x="4174236" y="5715000"/>
            <a:ext cx="1028700" cy="475488"/>
          </a:xfrm>
          <a:prstGeom prst="roundRect">
            <a:avLst>
              <a:gd name="adj" fmla="val 50000"/>
            </a:avLst>
          </a:prstGeom>
          <a:solidFill>
            <a:srgbClr val="2E3B4E"/>
          </a:solidFill>
          <a:ln w="12700">
            <a:solidFill>
              <a:srgbClr val="3C4C60"/>
            </a:solidFill>
            <a:prstDash val="solid"/>
          </a:ln>
        </p:spPr>
      </p:sp>
      <p:sp>
        <p:nvSpPr>
          <p:cNvPr id="11" name="Text 9"/>
          <p:cNvSpPr/>
          <p:nvPr/>
        </p:nvSpPr>
        <p:spPr>
          <a:xfrm>
            <a:off x="4174236" y="5715000"/>
            <a:ext cx="1028700" cy="475488"/>
          </a:xfrm>
          <a:prstGeom prst="rect">
            <a:avLst/>
          </a:prstGeom>
          <a:noFill/>
          <a:ln/>
        </p:spPr>
        <p:txBody>
          <a:bodyPr wrap="square" lIns="0" tIns="0" rIns="0" bIns="0" rtlCol="0" anchor="ctr"/>
          <a:lstStyle/>
          <a:p>
            <a:pPr algn="ctr" indent="0" marL="0">
              <a:buNone/>
            </a:pPr>
            <a:r>
              <a:rPr lang="en-US" sz="1250" b="1" dirty="0">
                <a:solidFill>
                  <a:srgbClr val="C9D3DF"/>
                </a:solidFill>
                <a:latin typeface="Calibri" pitchFamily="34" charset="0"/>
                <a:ea typeface="Calibri" pitchFamily="34" charset="-122"/>
                <a:cs typeface="Calibri" pitchFamily="34" charset="-120"/>
              </a:rPr>
              <a:t>Setup</a:t>
            </a:r>
            <a:endParaRPr lang="en-US" sz="1250" dirty="0"/>
          </a:p>
        </p:txBody>
      </p:sp>
      <p:sp>
        <p:nvSpPr>
          <p:cNvPr id="12" name="Shape 10"/>
          <p:cNvSpPr/>
          <p:nvPr/>
        </p:nvSpPr>
        <p:spPr>
          <a:xfrm>
            <a:off x="5367528" y="5715000"/>
            <a:ext cx="1449324" cy="475488"/>
          </a:xfrm>
          <a:prstGeom prst="roundRect">
            <a:avLst>
              <a:gd name="adj" fmla="val 50000"/>
            </a:avLst>
          </a:prstGeom>
          <a:solidFill>
            <a:srgbClr val="2E3B4E"/>
          </a:solidFill>
          <a:ln w="12700">
            <a:solidFill>
              <a:srgbClr val="3C4C60"/>
            </a:solidFill>
            <a:prstDash val="solid"/>
          </a:ln>
        </p:spPr>
      </p:sp>
      <p:sp>
        <p:nvSpPr>
          <p:cNvPr id="13" name="Text 11"/>
          <p:cNvSpPr/>
          <p:nvPr/>
        </p:nvSpPr>
        <p:spPr>
          <a:xfrm>
            <a:off x="5367528" y="5715000"/>
            <a:ext cx="1449324" cy="475488"/>
          </a:xfrm>
          <a:prstGeom prst="rect">
            <a:avLst/>
          </a:prstGeom>
          <a:noFill/>
          <a:ln/>
        </p:spPr>
        <p:txBody>
          <a:bodyPr wrap="square" lIns="0" tIns="0" rIns="0" bIns="0" rtlCol="0" anchor="ctr"/>
          <a:lstStyle/>
          <a:p>
            <a:pPr algn="ctr" indent="0" marL="0">
              <a:buNone/>
            </a:pPr>
            <a:r>
              <a:rPr lang="en-US" sz="1250" b="1" dirty="0">
                <a:solidFill>
                  <a:srgbClr val="C9D3DF"/>
                </a:solidFill>
                <a:latin typeface="Calibri" pitchFamily="34" charset="0"/>
                <a:ea typeface="Calibri" pitchFamily="34" charset="-122"/>
                <a:cs typeface="Calibri" pitchFamily="34" charset="-120"/>
              </a:rPr>
              <a:t>Knowledge</a:t>
            </a:r>
            <a:endParaRPr lang="en-US" sz="1250" dirty="0"/>
          </a:p>
        </p:txBody>
      </p:sp>
      <p:sp>
        <p:nvSpPr>
          <p:cNvPr id="14" name="Shape 12"/>
          <p:cNvSpPr/>
          <p:nvPr/>
        </p:nvSpPr>
        <p:spPr>
          <a:xfrm>
            <a:off x="6981444" y="5715000"/>
            <a:ext cx="1869948" cy="475488"/>
          </a:xfrm>
          <a:prstGeom prst="roundRect">
            <a:avLst>
              <a:gd name="adj" fmla="val 50000"/>
            </a:avLst>
          </a:prstGeom>
          <a:solidFill>
            <a:srgbClr val="2E3B4E"/>
          </a:solidFill>
          <a:ln w="12700">
            <a:solidFill>
              <a:srgbClr val="3C4C60"/>
            </a:solidFill>
            <a:prstDash val="solid"/>
          </a:ln>
        </p:spPr>
      </p:sp>
      <p:sp>
        <p:nvSpPr>
          <p:cNvPr id="15" name="Text 13"/>
          <p:cNvSpPr/>
          <p:nvPr/>
        </p:nvSpPr>
        <p:spPr>
          <a:xfrm>
            <a:off x="6981444" y="5715000"/>
            <a:ext cx="1869948" cy="475488"/>
          </a:xfrm>
          <a:prstGeom prst="rect">
            <a:avLst/>
          </a:prstGeom>
          <a:noFill/>
          <a:ln/>
        </p:spPr>
        <p:txBody>
          <a:bodyPr wrap="square" lIns="0" tIns="0" rIns="0" bIns="0" rtlCol="0" anchor="ctr"/>
          <a:lstStyle/>
          <a:p>
            <a:pPr algn="ctr" indent="0" marL="0">
              <a:buNone/>
            </a:pPr>
            <a:r>
              <a:rPr lang="en-US" sz="1250" b="1" dirty="0">
                <a:solidFill>
                  <a:srgbClr val="C9D3DF"/>
                </a:solidFill>
                <a:latin typeface="Calibri" pitchFamily="34" charset="0"/>
                <a:ea typeface="Calibri" pitchFamily="34" charset="-122"/>
                <a:cs typeface="Calibri" pitchFamily="34" charset="-120"/>
              </a:rPr>
              <a:t>Communication</a:t>
            </a:r>
            <a:endParaRPr lang="en-US" sz="1250" dirty="0"/>
          </a:p>
        </p:txBody>
      </p:sp>
      <p:sp>
        <p:nvSpPr>
          <p:cNvPr id="16" name="Shape 14"/>
          <p:cNvSpPr/>
          <p:nvPr/>
        </p:nvSpPr>
        <p:spPr>
          <a:xfrm>
            <a:off x="9015984" y="5715000"/>
            <a:ext cx="1554480" cy="475488"/>
          </a:xfrm>
          <a:prstGeom prst="roundRect">
            <a:avLst>
              <a:gd name="adj" fmla="val 50000"/>
            </a:avLst>
          </a:prstGeom>
          <a:solidFill>
            <a:srgbClr val="2E3B4E"/>
          </a:solidFill>
          <a:ln w="12700">
            <a:solidFill>
              <a:srgbClr val="3C4C60"/>
            </a:solidFill>
            <a:prstDash val="solid"/>
          </a:ln>
        </p:spPr>
      </p:sp>
      <p:sp>
        <p:nvSpPr>
          <p:cNvPr id="17" name="Text 15"/>
          <p:cNvSpPr/>
          <p:nvPr/>
        </p:nvSpPr>
        <p:spPr>
          <a:xfrm>
            <a:off x="9015984" y="5715000"/>
            <a:ext cx="1554480" cy="475488"/>
          </a:xfrm>
          <a:prstGeom prst="rect">
            <a:avLst/>
          </a:prstGeom>
          <a:noFill/>
          <a:ln/>
        </p:spPr>
        <p:txBody>
          <a:bodyPr wrap="square" lIns="0" tIns="0" rIns="0" bIns="0" rtlCol="0" anchor="ctr"/>
          <a:lstStyle/>
          <a:p>
            <a:pPr algn="ctr" indent="0" marL="0">
              <a:buNone/>
            </a:pPr>
            <a:r>
              <a:rPr lang="en-US" sz="1250" b="1" dirty="0">
                <a:solidFill>
                  <a:srgbClr val="C9D3DF"/>
                </a:solidFill>
                <a:latin typeface="Calibri" pitchFamily="34" charset="0"/>
                <a:ea typeface="Calibri" pitchFamily="34" charset="-122"/>
                <a:cs typeface="Calibri" pitchFamily="34" charset="-120"/>
              </a:rPr>
              <a:t>Daily Task</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502920"/>
            <a:ext cx="10972800" cy="822960"/>
          </a:xfrm>
          <a:prstGeom prst="rect">
            <a:avLst/>
          </a:prstGeom>
          <a:noFill/>
          <a:ln/>
        </p:spPr>
        <p:txBody>
          <a:bodyPr wrap="square" lIns="0" tIns="0" rIns="0" bIns="0" rtlCol="0" anchor="ctr"/>
          <a:lstStyle/>
          <a:p>
            <a:pPr indent="0" marL="0">
              <a:buNone/>
            </a:pPr>
            <a:r>
              <a:rPr lang="en-US" sz="3400" b="1" dirty="0">
                <a:solidFill>
                  <a:srgbClr val="232F3E"/>
                </a:solidFill>
                <a:latin typeface="Cambria" pitchFamily="34" charset="0"/>
                <a:ea typeface="Cambria" pitchFamily="34" charset="-122"/>
                <a:cs typeface="Cambria" pitchFamily="34" charset="-120"/>
              </a:rPr>
              <a:t>Onboarding today is slow, manual, and fragmented</a:t>
            </a:r>
            <a:endParaRPr lang="en-US" sz="3400" dirty="0"/>
          </a:p>
        </p:txBody>
      </p:sp>
      <p:sp>
        <p:nvSpPr>
          <p:cNvPr id="3" name="Text 1"/>
          <p:cNvSpPr/>
          <p:nvPr/>
        </p:nvSpPr>
        <p:spPr>
          <a:xfrm>
            <a:off x="658368" y="1325880"/>
            <a:ext cx="105156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Every new hire kicks off the same scramble across disconnected teams and systems.</a:t>
            </a:r>
            <a:endParaRPr lang="en-US" sz="1700" dirty="0"/>
          </a:p>
        </p:txBody>
      </p:sp>
      <p:sp>
        <p:nvSpPr>
          <p:cNvPr id="4" name="Shape 2"/>
          <p:cNvSpPr/>
          <p:nvPr/>
        </p:nvSpPr>
        <p:spPr>
          <a:xfrm>
            <a:off x="640080" y="2148840"/>
            <a:ext cx="2697480" cy="292608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5" name="Text 3"/>
          <p:cNvSpPr/>
          <p:nvPr/>
        </p:nvSpPr>
        <p:spPr>
          <a:xfrm>
            <a:off x="685800" y="2514600"/>
            <a:ext cx="2606040" cy="914400"/>
          </a:xfrm>
          <a:prstGeom prst="rect">
            <a:avLst/>
          </a:prstGeom>
          <a:noFill/>
          <a:ln/>
        </p:spPr>
        <p:txBody>
          <a:bodyPr wrap="square" lIns="0" tIns="0" rIns="0" bIns="0" rtlCol="0" anchor="ctr"/>
          <a:lstStyle/>
          <a:p>
            <a:pPr algn="ctr" indent="0" marL="0">
              <a:buNone/>
            </a:pPr>
            <a:r>
              <a:rPr lang="en-US" sz="3300" b="1" dirty="0">
                <a:solidFill>
                  <a:srgbClr val="FF9900"/>
                </a:solidFill>
                <a:latin typeface="Cambria" pitchFamily="34" charset="0"/>
                <a:ea typeface="Cambria" pitchFamily="34" charset="-122"/>
                <a:cs typeface="Cambria" pitchFamily="34" charset="-120"/>
              </a:rPr>
              <a:t>2–3 weeks</a:t>
            </a:r>
            <a:endParaRPr lang="en-US" sz="3300" dirty="0"/>
          </a:p>
        </p:txBody>
      </p:sp>
      <p:sp>
        <p:nvSpPr>
          <p:cNvPr id="6" name="Text 4"/>
          <p:cNvSpPr/>
          <p:nvPr/>
        </p:nvSpPr>
        <p:spPr>
          <a:xfrm>
            <a:off x="914400" y="3520440"/>
            <a:ext cx="2148840" cy="1280160"/>
          </a:xfrm>
          <a:prstGeom prst="rect">
            <a:avLst/>
          </a:prstGeom>
          <a:noFill/>
          <a:ln/>
        </p:spPr>
        <p:txBody>
          <a:bodyPr wrap="square" lIns="0" tIns="0" rIns="0" bIns="0" rtlCol="0" anchor="t"/>
          <a:lstStyle/>
          <a:p>
            <a:pPr algn="ctr" indent="0" marL="0">
              <a:buNone/>
            </a:pPr>
            <a:r>
              <a:rPr lang="en-US" sz="1500" dirty="0">
                <a:solidFill>
                  <a:srgbClr val="232F3E"/>
                </a:solidFill>
                <a:latin typeface="Calibri" pitchFamily="34" charset="0"/>
                <a:ea typeface="Calibri" pitchFamily="34" charset="-122"/>
                <a:cs typeface="Calibri" pitchFamily="34" charset="-120"/>
              </a:rPr>
              <a:t>to full productivity for a typical new hire</a:t>
            </a:r>
            <a:endParaRPr lang="en-US" sz="1500" dirty="0"/>
          </a:p>
        </p:txBody>
      </p:sp>
      <p:sp>
        <p:nvSpPr>
          <p:cNvPr id="7" name="Shape 5"/>
          <p:cNvSpPr/>
          <p:nvPr/>
        </p:nvSpPr>
        <p:spPr>
          <a:xfrm>
            <a:off x="3538728" y="2148840"/>
            <a:ext cx="2697480" cy="292608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8" name="Text 6"/>
          <p:cNvSpPr/>
          <p:nvPr/>
        </p:nvSpPr>
        <p:spPr>
          <a:xfrm>
            <a:off x="3584448" y="2514600"/>
            <a:ext cx="2606040" cy="914400"/>
          </a:xfrm>
          <a:prstGeom prst="rect">
            <a:avLst/>
          </a:prstGeom>
          <a:noFill/>
          <a:ln/>
        </p:spPr>
        <p:txBody>
          <a:bodyPr wrap="square" lIns="0" tIns="0" rIns="0" bIns="0" rtlCol="0" anchor="ctr"/>
          <a:lstStyle/>
          <a:p>
            <a:pPr algn="ctr" indent="0" marL="0">
              <a:buNone/>
            </a:pPr>
            <a:r>
              <a:rPr lang="en-US" sz="3300" b="1" dirty="0">
                <a:solidFill>
                  <a:srgbClr val="FF9900"/>
                </a:solidFill>
                <a:latin typeface="Cambria" pitchFamily="34" charset="0"/>
                <a:ea typeface="Cambria" pitchFamily="34" charset="-122"/>
                <a:cs typeface="Cambria" pitchFamily="34" charset="-120"/>
              </a:rPr>
              <a:t>7+ systems</a:t>
            </a:r>
            <a:endParaRPr lang="en-US" sz="3300" dirty="0"/>
          </a:p>
        </p:txBody>
      </p:sp>
      <p:sp>
        <p:nvSpPr>
          <p:cNvPr id="9" name="Text 7"/>
          <p:cNvSpPr/>
          <p:nvPr/>
        </p:nvSpPr>
        <p:spPr>
          <a:xfrm>
            <a:off x="3813048" y="3520440"/>
            <a:ext cx="2148840" cy="1280160"/>
          </a:xfrm>
          <a:prstGeom prst="rect">
            <a:avLst/>
          </a:prstGeom>
          <a:noFill/>
          <a:ln/>
        </p:spPr>
        <p:txBody>
          <a:bodyPr wrap="square" lIns="0" tIns="0" rIns="0" bIns="0" rtlCol="0" anchor="t"/>
          <a:lstStyle/>
          <a:p>
            <a:pPr algn="ctr" indent="0" marL="0">
              <a:buNone/>
            </a:pPr>
            <a:r>
              <a:rPr lang="en-US" sz="1500" dirty="0">
                <a:solidFill>
                  <a:srgbClr val="232F3E"/>
                </a:solidFill>
                <a:latin typeface="Calibri" pitchFamily="34" charset="0"/>
                <a:ea typeface="Calibri" pitchFamily="34" charset="-122"/>
                <a:cs typeface="Calibri" pitchFamily="34" charset="-120"/>
              </a:rPr>
              <a:t>VPN, email, SharePoint, Workday, software — provisioned by hand</a:t>
            </a:r>
            <a:endParaRPr lang="en-US" sz="1500" dirty="0"/>
          </a:p>
        </p:txBody>
      </p:sp>
      <p:sp>
        <p:nvSpPr>
          <p:cNvPr id="10" name="Shape 8"/>
          <p:cNvSpPr/>
          <p:nvPr/>
        </p:nvSpPr>
        <p:spPr>
          <a:xfrm>
            <a:off x="6437376" y="2148840"/>
            <a:ext cx="2697480" cy="292608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11" name="Text 9"/>
          <p:cNvSpPr/>
          <p:nvPr/>
        </p:nvSpPr>
        <p:spPr>
          <a:xfrm>
            <a:off x="6483096" y="2514600"/>
            <a:ext cx="2606040" cy="914400"/>
          </a:xfrm>
          <a:prstGeom prst="rect">
            <a:avLst/>
          </a:prstGeom>
          <a:noFill/>
          <a:ln/>
        </p:spPr>
        <p:txBody>
          <a:bodyPr wrap="square" lIns="0" tIns="0" rIns="0" bIns="0" rtlCol="0" anchor="ctr"/>
          <a:lstStyle/>
          <a:p>
            <a:pPr algn="ctr" indent="0" marL="0">
              <a:buNone/>
            </a:pPr>
            <a:r>
              <a:rPr lang="en-US" sz="3300" b="1" dirty="0">
                <a:solidFill>
                  <a:srgbClr val="FF9900"/>
                </a:solidFill>
                <a:latin typeface="Cambria" pitchFamily="34" charset="0"/>
                <a:ea typeface="Cambria" pitchFamily="34" charset="-122"/>
                <a:cs typeface="Cambria" pitchFamily="34" charset="-120"/>
              </a:rPr>
              <a:t>3 teams</a:t>
            </a:r>
            <a:endParaRPr lang="en-US" sz="3300" dirty="0"/>
          </a:p>
        </p:txBody>
      </p:sp>
      <p:sp>
        <p:nvSpPr>
          <p:cNvPr id="12" name="Text 10"/>
          <p:cNvSpPr/>
          <p:nvPr/>
        </p:nvSpPr>
        <p:spPr>
          <a:xfrm>
            <a:off x="6711696" y="3520440"/>
            <a:ext cx="2148840" cy="1280160"/>
          </a:xfrm>
          <a:prstGeom prst="rect">
            <a:avLst/>
          </a:prstGeom>
          <a:noFill/>
          <a:ln/>
        </p:spPr>
        <p:txBody>
          <a:bodyPr wrap="square" lIns="0" tIns="0" rIns="0" bIns="0" rtlCol="0" anchor="t"/>
          <a:lstStyle/>
          <a:p>
            <a:pPr algn="ctr" indent="0" marL="0">
              <a:buNone/>
            </a:pPr>
            <a:r>
              <a:rPr lang="en-US" sz="1500" dirty="0">
                <a:solidFill>
                  <a:srgbClr val="232F3E"/>
                </a:solidFill>
                <a:latin typeface="Calibri" pitchFamily="34" charset="0"/>
                <a:ea typeface="Calibri" pitchFamily="34" charset="-122"/>
                <a:cs typeface="Calibri" pitchFamily="34" charset="-120"/>
              </a:rPr>
              <a:t>IT, HR &amp; managers chasing each other over email</a:t>
            </a:r>
            <a:endParaRPr lang="en-US" sz="1500" dirty="0"/>
          </a:p>
        </p:txBody>
      </p:sp>
      <p:sp>
        <p:nvSpPr>
          <p:cNvPr id="13" name="Shape 11"/>
          <p:cNvSpPr/>
          <p:nvPr/>
        </p:nvSpPr>
        <p:spPr>
          <a:xfrm>
            <a:off x="9336024" y="2148840"/>
            <a:ext cx="2697480" cy="292608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14" name="Text 12"/>
          <p:cNvSpPr/>
          <p:nvPr/>
        </p:nvSpPr>
        <p:spPr>
          <a:xfrm>
            <a:off x="9381744" y="2514600"/>
            <a:ext cx="2606040" cy="914400"/>
          </a:xfrm>
          <a:prstGeom prst="rect">
            <a:avLst/>
          </a:prstGeom>
          <a:noFill/>
          <a:ln/>
        </p:spPr>
        <p:txBody>
          <a:bodyPr wrap="square" lIns="0" tIns="0" rIns="0" bIns="0" rtlCol="0" anchor="ctr"/>
          <a:lstStyle/>
          <a:p>
            <a:pPr algn="ctr" indent="0" marL="0">
              <a:buNone/>
            </a:pPr>
            <a:r>
              <a:rPr lang="en-US" sz="3300" b="1" dirty="0">
                <a:solidFill>
                  <a:srgbClr val="FF9900"/>
                </a:solidFill>
                <a:latin typeface="Cambria" pitchFamily="34" charset="0"/>
                <a:ea typeface="Cambria" pitchFamily="34" charset="-122"/>
                <a:cs typeface="Cambria" pitchFamily="34" charset="-120"/>
              </a:rPr>
              <a:t>Day-one chaos</a:t>
            </a:r>
            <a:endParaRPr lang="en-US" sz="3300" dirty="0"/>
          </a:p>
        </p:txBody>
      </p:sp>
      <p:sp>
        <p:nvSpPr>
          <p:cNvPr id="15" name="Text 13"/>
          <p:cNvSpPr/>
          <p:nvPr/>
        </p:nvSpPr>
        <p:spPr>
          <a:xfrm>
            <a:off x="9610344" y="3520440"/>
            <a:ext cx="2148840" cy="1280160"/>
          </a:xfrm>
          <a:prstGeom prst="rect">
            <a:avLst/>
          </a:prstGeom>
          <a:noFill/>
          <a:ln/>
        </p:spPr>
        <p:txBody>
          <a:bodyPr wrap="square" lIns="0" tIns="0" rIns="0" bIns="0" rtlCol="0" anchor="t"/>
          <a:lstStyle/>
          <a:p>
            <a:pPr algn="ctr" indent="0" marL="0">
              <a:buNone/>
            </a:pPr>
            <a:r>
              <a:rPr lang="en-US" sz="1500" dirty="0">
                <a:solidFill>
                  <a:srgbClr val="232F3E"/>
                </a:solidFill>
                <a:latin typeface="Calibri" pitchFamily="34" charset="0"/>
                <a:ea typeface="Calibri" pitchFamily="34" charset="-122"/>
                <a:cs typeface="Calibri" pitchFamily="34" charset="-120"/>
              </a:rPr>
              <a:t>no clear tasks, no answers, no context</a:t>
            </a:r>
            <a:endParaRPr lang="en-US" sz="1500" dirty="0"/>
          </a:p>
        </p:txBody>
      </p:sp>
      <p:sp>
        <p:nvSpPr>
          <p:cNvPr id="16" name="Text 14"/>
          <p:cNvSpPr/>
          <p:nvPr/>
        </p:nvSpPr>
        <p:spPr>
          <a:xfrm>
            <a:off x="640080" y="5577840"/>
            <a:ext cx="10972800" cy="548640"/>
          </a:xfrm>
          <a:prstGeom prst="rect">
            <a:avLst/>
          </a:prstGeom>
          <a:noFill/>
          <a:ln/>
        </p:spPr>
        <p:txBody>
          <a:bodyPr wrap="square" lIns="0" tIns="0" rIns="0" bIns="0" rtlCol="0" anchor="ctr"/>
          <a:lstStyle/>
          <a:p>
            <a:pPr indent="0" marL="0">
              <a:buNone/>
            </a:pPr>
            <a:r>
              <a:rPr lang="en-US" sz="1800" b="1" i="1" dirty="0">
                <a:solidFill>
                  <a:srgbClr val="232F3E"/>
                </a:solidFill>
                <a:latin typeface="Calibri" pitchFamily="34" charset="0"/>
                <a:ea typeface="Calibri" pitchFamily="34" charset="-122"/>
                <a:cs typeface="Calibri" pitchFamily="34" charset="-120"/>
              </a:rPr>
              <a:t>Result: frustrated hires, overloaded IT, and weeks of lost momentum.</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640080" y="50292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orchestrator. Five specialists. Zero manual handoffs.</a:t>
            </a:r>
            <a:endParaRPr lang="en-US" sz="3200" dirty="0"/>
          </a:p>
        </p:txBody>
      </p:sp>
      <p:sp>
        <p:nvSpPr>
          <p:cNvPr id="3" name="Text 1"/>
          <p:cNvSpPr/>
          <p:nvPr/>
        </p:nvSpPr>
        <p:spPr>
          <a:xfrm>
            <a:off x="658368" y="1325880"/>
            <a:ext cx="7315200" cy="1097280"/>
          </a:xfrm>
          <a:prstGeom prst="rect">
            <a:avLst/>
          </a:prstGeom>
          <a:noFill/>
          <a:ln/>
        </p:spPr>
        <p:txBody>
          <a:bodyPr wrap="square" lIns="0" tIns="0" rIns="0" bIns="0" rtlCol="0" anchor="ctr"/>
          <a:lstStyle/>
          <a:p>
            <a:pPr indent="0" marL="0">
              <a:buNone/>
            </a:pPr>
            <a:r>
              <a:rPr lang="en-US" sz="1700" dirty="0">
                <a:solidFill>
                  <a:srgbClr val="CFD8E3"/>
                </a:solidFill>
                <a:latin typeface="Calibri" pitchFamily="34" charset="0"/>
                <a:ea typeface="Calibri" pitchFamily="34" charset="-122"/>
                <a:cs typeface="Calibri" pitchFamily="34" charset="-120"/>
              </a:rPr>
              <a:t>AWS-IQ uses Amazon Bedrock Multi-Agent Collaboration in a supervisor pattern — the orchestrator routes each request to the right specialist agent, then aggregates the results.</a:t>
            </a:r>
            <a:endParaRPr lang="en-US" sz="1700" dirty="0"/>
          </a:p>
        </p:txBody>
      </p:sp>
      <p:sp>
        <p:nvSpPr>
          <p:cNvPr id="4" name="Shape 2"/>
          <p:cNvSpPr/>
          <p:nvPr/>
        </p:nvSpPr>
        <p:spPr>
          <a:xfrm>
            <a:off x="822960" y="2743200"/>
            <a:ext cx="2743200" cy="1371600"/>
          </a:xfrm>
          <a:prstGeom prst="roundRect">
            <a:avLst>
              <a:gd name="adj" fmla="val 8000"/>
            </a:avLst>
          </a:prstGeom>
          <a:solidFill>
            <a:srgbClr val="FF9900"/>
          </a:solidFill>
          <a:ln/>
          <a:effectLst>
            <a:outerShdw sx="100000" sy="100000" kx="0" ky="0" algn="bl" rotWithShape="0" blurRad="101600" dist="38100" dir="54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1143000" y="3154680"/>
            <a:ext cx="566928" cy="566928"/>
          </a:xfrm>
          <a:prstGeom prst="rect">
            <a:avLst/>
          </a:prstGeom>
        </p:spPr>
      </p:pic>
      <p:sp>
        <p:nvSpPr>
          <p:cNvPr id="6" name="Text 3"/>
          <p:cNvSpPr/>
          <p:nvPr/>
        </p:nvSpPr>
        <p:spPr>
          <a:xfrm>
            <a:off x="1783080" y="3063240"/>
            <a:ext cx="1737360" cy="822960"/>
          </a:xfrm>
          <a:prstGeom prst="rect">
            <a:avLst/>
          </a:prstGeom>
          <a:noFill/>
          <a:ln/>
        </p:spPr>
        <p:txBody>
          <a:bodyPr wrap="square" lIns="0" tIns="0" rIns="0" bIns="0"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Orchestrator Agent</a:t>
            </a:r>
            <a:endParaRPr lang="en-US" sz="1800" dirty="0"/>
          </a:p>
          <a:p>
            <a:pPr indent="0" marL="0">
              <a:buNone/>
            </a:pPr>
            <a:r>
              <a:rPr lang="en-US" sz="1250" dirty="0">
                <a:solidFill>
                  <a:srgbClr val="232F3E"/>
                </a:solidFill>
                <a:latin typeface="Calibri" pitchFamily="34" charset="0"/>
                <a:ea typeface="Calibri" pitchFamily="34" charset="-122"/>
                <a:cs typeface="Calibri" pitchFamily="34" charset="-120"/>
              </a:rPr>
              <a:t>Routes · aggregates · tracks state</a:t>
            </a:r>
            <a:endParaRPr lang="en-US" sz="1800" dirty="0"/>
          </a:p>
        </p:txBody>
      </p:sp>
      <p:sp>
        <p:nvSpPr>
          <p:cNvPr id="7" name="Shape 4"/>
          <p:cNvSpPr/>
          <p:nvPr/>
        </p:nvSpPr>
        <p:spPr>
          <a:xfrm>
            <a:off x="5029200" y="2331720"/>
            <a:ext cx="6492240" cy="713232"/>
          </a:xfrm>
          <a:prstGeom prst="roundRect">
            <a:avLst>
              <a:gd name="adj" fmla="val 12821"/>
            </a:avLst>
          </a:prstGeom>
          <a:solidFill>
            <a:srgbClr val="2E3B4E"/>
          </a:solidFill>
          <a:ln w="12700">
            <a:solidFill>
              <a:srgbClr val="3C4C60"/>
            </a:solidFill>
            <a:prstDash val="solid"/>
          </a:ln>
        </p:spPr>
      </p:sp>
      <p:pic>
        <p:nvPicPr>
          <p:cNvPr id="8" name="Image 1" descr="preencoded.png">    </p:cNvPr>
          <p:cNvPicPr>
            <a:picLocks noChangeAspect="1"/>
          </p:cNvPicPr>
          <p:nvPr/>
        </p:nvPicPr>
        <p:blipFill>
          <a:blip r:embed="rId2"/>
          <a:stretch>
            <a:fillRect/>
          </a:stretch>
        </p:blipFill>
        <p:spPr>
          <a:xfrm>
            <a:off x="5257800" y="2505456"/>
            <a:ext cx="365760" cy="365760"/>
          </a:xfrm>
          <a:prstGeom prst="rect">
            <a:avLst/>
          </a:prstGeom>
        </p:spPr>
      </p:pic>
      <p:sp>
        <p:nvSpPr>
          <p:cNvPr id="9" name="Text 5"/>
          <p:cNvSpPr/>
          <p:nvPr/>
        </p:nvSpPr>
        <p:spPr>
          <a:xfrm>
            <a:off x="5806440" y="2331720"/>
            <a:ext cx="557784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Profile Agent</a:t>
            </a:r>
            <a:endParaRPr lang="en-US" sz="1650" dirty="0"/>
          </a:p>
        </p:txBody>
      </p:sp>
      <p:sp>
        <p:nvSpPr>
          <p:cNvPr id="10" name="Shape 6"/>
          <p:cNvSpPr/>
          <p:nvPr/>
        </p:nvSpPr>
        <p:spPr>
          <a:xfrm>
            <a:off x="5029200" y="3209544"/>
            <a:ext cx="6492240" cy="713232"/>
          </a:xfrm>
          <a:prstGeom prst="roundRect">
            <a:avLst>
              <a:gd name="adj" fmla="val 12821"/>
            </a:avLst>
          </a:prstGeom>
          <a:solidFill>
            <a:srgbClr val="2E3B4E"/>
          </a:solidFill>
          <a:ln w="12700">
            <a:solidFill>
              <a:srgbClr val="3C4C60"/>
            </a:solidFill>
            <a:prstDash val="solid"/>
          </a:ln>
        </p:spPr>
      </p:sp>
      <p:pic>
        <p:nvPicPr>
          <p:cNvPr id="11" name="Image 2" descr="preencoded.png">    </p:cNvPr>
          <p:cNvPicPr>
            <a:picLocks noChangeAspect="1"/>
          </p:cNvPicPr>
          <p:nvPr/>
        </p:nvPicPr>
        <p:blipFill>
          <a:blip r:embed="rId3"/>
          <a:stretch>
            <a:fillRect/>
          </a:stretch>
        </p:blipFill>
        <p:spPr>
          <a:xfrm>
            <a:off x="5257800" y="3383280"/>
            <a:ext cx="365760" cy="365760"/>
          </a:xfrm>
          <a:prstGeom prst="rect">
            <a:avLst/>
          </a:prstGeom>
        </p:spPr>
      </p:pic>
      <p:sp>
        <p:nvSpPr>
          <p:cNvPr id="12" name="Text 7"/>
          <p:cNvSpPr/>
          <p:nvPr/>
        </p:nvSpPr>
        <p:spPr>
          <a:xfrm>
            <a:off x="5806440" y="3209544"/>
            <a:ext cx="557784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Setup Agent</a:t>
            </a:r>
            <a:endParaRPr lang="en-US" sz="1650" dirty="0"/>
          </a:p>
        </p:txBody>
      </p:sp>
      <p:sp>
        <p:nvSpPr>
          <p:cNvPr id="13" name="Shape 8"/>
          <p:cNvSpPr/>
          <p:nvPr/>
        </p:nvSpPr>
        <p:spPr>
          <a:xfrm>
            <a:off x="5029200" y="4087368"/>
            <a:ext cx="6492240" cy="713232"/>
          </a:xfrm>
          <a:prstGeom prst="roundRect">
            <a:avLst>
              <a:gd name="adj" fmla="val 12821"/>
            </a:avLst>
          </a:prstGeom>
          <a:solidFill>
            <a:srgbClr val="2E3B4E"/>
          </a:solidFill>
          <a:ln w="12700">
            <a:solidFill>
              <a:srgbClr val="3C4C60"/>
            </a:solidFill>
            <a:prstDash val="solid"/>
          </a:ln>
        </p:spPr>
      </p:sp>
      <p:pic>
        <p:nvPicPr>
          <p:cNvPr id="14" name="Image 3" descr="preencoded.png">    </p:cNvPr>
          <p:cNvPicPr>
            <a:picLocks noChangeAspect="1"/>
          </p:cNvPicPr>
          <p:nvPr/>
        </p:nvPicPr>
        <p:blipFill>
          <a:blip r:embed="rId4"/>
          <a:stretch>
            <a:fillRect/>
          </a:stretch>
        </p:blipFill>
        <p:spPr>
          <a:xfrm>
            <a:off x="5257800" y="4261104"/>
            <a:ext cx="365760" cy="365760"/>
          </a:xfrm>
          <a:prstGeom prst="rect">
            <a:avLst/>
          </a:prstGeom>
        </p:spPr>
      </p:pic>
      <p:sp>
        <p:nvSpPr>
          <p:cNvPr id="15" name="Text 9"/>
          <p:cNvSpPr/>
          <p:nvPr/>
        </p:nvSpPr>
        <p:spPr>
          <a:xfrm>
            <a:off x="5806440" y="4087368"/>
            <a:ext cx="557784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Knowledge Agent</a:t>
            </a:r>
            <a:endParaRPr lang="en-US" sz="1650" dirty="0"/>
          </a:p>
        </p:txBody>
      </p:sp>
      <p:sp>
        <p:nvSpPr>
          <p:cNvPr id="16" name="Shape 10"/>
          <p:cNvSpPr/>
          <p:nvPr/>
        </p:nvSpPr>
        <p:spPr>
          <a:xfrm>
            <a:off x="5029200" y="4965192"/>
            <a:ext cx="6492240" cy="713232"/>
          </a:xfrm>
          <a:prstGeom prst="roundRect">
            <a:avLst>
              <a:gd name="adj" fmla="val 12821"/>
            </a:avLst>
          </a:prstGeom>
          <a:solidFill>
            <a:srgbClr val="2E3B4E"/>
          </a:solidFill>
          <a:ln w="12700">
            <a:solidFill>
              <a:srgbClr val="3C4C60"/>
            </a:solidFill>
            <a:prstDash val="solid"/>
          </a:ln>
        </p:spPr>
      </p:sp>
      <p:pic>
        <p:nvPicPr>
          <p:cNvPr id="17" name="Image 4" descr="preencoded.png">    </p:cNvPr>
          <p:cNvPicPr>
            <a:picLocks noChangeAspect="1"/>
          </p:cNvPicPr>
          <p:nvPr/>
        </p:nvPicPr>
        <p:blipFill>
          <a:blip r:embed="rId5"/>
          <a:stretch>
            <a:fillRect/>
          </a:stretch>
        </p:blipFill>
        <p:spPr>
          <a:xfrm>
            <a:off x="5257800" y="5138928"/>
            <a:ext cx="365760" cy="365760"/>
          </a:xfrm>
          <a:prstGeom prst="rect">
            <a:avLst/>
          </a:prstGeom>
        </p:spPr>
      </p:pic>
      <p:sp>
        <p:nvSpPr>
          <p:cNvPr id="18" name="Text 11"/>
          <p:cNvSpPr/>
          <p:nvPr/>
        </p:nvSpPr>
        <p:spPr>
          <a:xfrm>
            <a:off x="5806440" y="4965192"/>
            <a:ext cx="557784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Communication Agent</a:t>
            </a:r>
            <a:endParaRPr lang="en-US" sz="1650" dirty="0"/>
          </a:p>
        </p:txBody>
      </p:sp>
      <p:sp>
        <p:nvSpPr>
          <p:cNvPr id="19" name="Shape 12"/>
          <p:cNvSpPr/>
          <p:nvPr/>
        </p:nvSpPr>
        <p:spPr>
          <a:xfrm>
            <a:off x="5029200" y="5843016"/>
            <a:ext cx="6492240" cy="713232"/>
          </a:xfrm>
          <a:prstGeom prst="roundRect">
            <a:avLst>
              <a:gd name="adj" fmla="val 12821"/>
            </a:avLst>
          </a:prstGeom>
          <a:solidFill>
            <a:srgbClr val="2E3B4E"/>
          </a:solidFill>
          <a:ln w="12700">
            <a:solidFill>
              <a:srgbClr val="3C4C60"/>
            </a:solidFill>
            <a:prstDash val="solid"/>
          </a:ln>
        </p:spPr>
      </p:sp>
      <p:pic>
        <p:nvPicPr>
          <p:cNvPr id="20" name="Image 5" descr="preencoded.png">    </p:cNvPr>
          <p:cNvPicPr>
            <a:picLocks noChangeAspect="1"/>
          </p:cNvPicPr>
          <p:nvPr/>
        </p:nvPicPr>
        <p:blipFill>
          <a:blip r:embed="rId6"/>
          <a:stretch>
            <a:fillRect/>
          </a:stretch>
        </p:blipFill>
        <p:spPr>
          <a:xfrm>
            <a:off x="5257800" y="6016752"/>
            <a:ext cx="365760" cy="365760"/>
          </a:xfrm>
          <a:prstGeom prst="rect">
            <a:avLst/>
          </a:prstGeom>
        </p:spPr>
      </p:pic>
      <p:sp>
        <p:nvSpPr>
          <p:cNvPr id="21" name="Text 13"/>
          <p:cNvSpPr/>
          <p:nvPr/>
        </p:nvSpPr>
        <p:spPr>
          <a:xfrm>
            <a:off x="5806440" y="5843016"/>
            <a:ext cx="557784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Daily Task Agent</a:t>
            </a:r>
            <a:endParaRPr lang="en-US" sz="1650" dirty="0"/>
          </a:p>
        </p:txBody>
      </p:sp>
      <p:pic>
        <p:nvPicPr>
          <p:cNvPr id="22" name="Image 6" descr="preencoded.png">    </p:cNvPr>
          <p:cNvPicPr>
            <a:picLocks noChangeAspect="1"/>
          </p:cNvPicPr>
          <p:nvPr/>
        </p:nvPicPr>
        <p:blipFill>
          <a:blip r:embed="rId7"/>
          <a:stretch>
            <a:fillRect/>
          </a:stretch>
        </p:blipFill>
        <p:spPr>
          <a:xfrm>
            <a:off x="3886200" y="3246120"/>
            <a:ext cx="868680" cy="868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232F3E"/>
                </a:solidFill>
                <a:latin typeface="Cambria" pitchFamily="34" charset="0"/>
                <a:ea typeface="Cambria" pitchFamily="34" charset="-122"/>
                <a:cs typeface="Cambria" pitchFamily="34" charset="-120"/>
              </a:rPr>
              <a:t>Meet the five agents</a:t>
            </a:r>
            <a:endParaRPr lang="en-US" sz="3400" dirty="0"/>
          </a:p>
        </p:txBody>
      </p:sp>
      <p:sp>
        <p:nvSpPr>
          <p:cNvPr id="3" name="Shape 1"/>
          <p:cNvSpPr/>
          <p:nvPr/>
        </p:nvSpPr>
        <p:spPr>
          <a:xfrm>
            <a:off x="640080" y="1417320"/>
            <a:ext cx="3593592" cy="2148840"/>
          </a:xfrm>
          <a:prstGeom prst="roundRect">
            <a:avLst>
              <a:gd name="adj" fmla="val 4255"/>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sp>
        <p:nvSpPr>
          <p:cNvPr id="4" name="Shape 2"/>
          <p:cNvSpPr/>
          <p:nvPr/>
        </p:nvSpPr>
        <p:spPr>
          <a:xfrm>
            <a:off x="932688" y="1709928"/>
            <a:ext cx="713232" cy="713232"/>
          </a:xfrm>
          <a:prstGeom prst="ellipse">
            <a:avLst/>
          </a:prstGeom>
          <a:solidFill>
            <a:srgbClr val="232F3E"/>
          </a:solidFill>
          <a:ln/>
        </p:spPr>
      </p:sp>
      <p:pic>
        <p:nvPicPr>
          <p:cNvPr id="5" name="Image 0" descr="preencoded.png">    </p:cNvPr>
          <p:cNvPicPr>
            <a:picLocks noChangeAspect="1"/>
          </p:cNvPicPr>
          <p:nvPr/>
        </p:nvPicPr>
        <p:blipFill>
          <a:blip r:embed="rId1"/>
          <a:stretch>
            <a:fillRect/>
          </a:stretch>
        </p:blipFill>
        <p:spPr>
          <a:xfrm>
            <a:off x="1088136" y="1865376"/>
            <a:ext cx="402336" cy="402336"/>
          </a:xfrm>
          <a:prstGeom prst="rect">
            <a:avLst/>
          </a:prstGeom>
        </p:spPr>
      </p:pic>
      <p:sp>
        <p:nvSpPr>
          <p:cNvPr id="6" name="Text 3"/>
          <p:cNvSpPr/>
          <p:nvPr/>
        </p:nvSpPr>
        <p:spPr>
          <a:xfrm>
            <a:off x="1783080" y="1728216"/>
            <a:ext cx="2313432" cy="411480"/>
          </a:xfrm>
          <a:prstGeom prst="rect">
            <a:avLst/>
          </a:prstGeom>
          <a:noFill/>
          <a:ln/>
        </p:spPr>
        <p:txBody>
          <a:bodyPr wrap="square" lIns="0" tIns="0" rIns="0" bIns="0" rtlCol="0" anchor="ctr"/>
          <a:lstStyle/>
          <a:p>
            <a:pPr indent="0" marL="0">
              <a:buNone/>
            </a:pPr>
            <a:r>
              <a:rPr lang="en-US" sz="2000" b="1" dirty="0">
                <a:solidFill>
                  <a:srgbClr val="232F3E"/>
                </a:solidFill>
                <a:latin typeface="Cambria" pitchFamily="34" charset="0"/>
                <a:ea typeface="Cambria" pitchFamily="34" charset="-122"/>
                <a:cs typeface="Cambria" pitchFamily="34" charset="-120"/>
              </a:rPr>
              <a:t>Profile</a:t>
            </a:r>
            <a:endParaRPr lang="en-US" sz="2000" dirty="0"/>
          </a:p>
        </p:txBody>
      </p:sp>
      <p:sp>
        <p:nvSpPr>
          <p:cNvPr id="7" name="Text 4"/>
          <p:cNvSpPr/>
          <p:nvPr/>
        </p:nvSpPr>
        <p:spPr>
          <a:xfrm>
            <a:off x="1783080" y="2130552"/>
            <a:ext cx="2313432"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DynamoDB</a:t>
            </a:r>
            <a:endParaRPr lang="en-US" sz="1200" dirty="0"/>
          </a:p>
        </p:txBody>
      </p:sp>
      <p:sp>
        <p:nvSpPr>
          <p:cNvPr id="8" name="Text 5"/>
          <p:cNvSpPr/>
          <p:nvPr/>
        </p:nvSpPr>
        <p:spPr>
          <a:xfrm>
            <a:off x="950976" y="2651760"/>
            <a:ext cx="2990088" cy="777240"/>
          </a:xfrm>
          <a:prstGeom prst="rect">
            <a:avLst/>
          </a:prstGeom>
          <a:noFill/>
          <a:ln/>
        </p:spPr>
        <p:txBody>
          <a:bodyPr wrap="square" lIns="0" tIns="0" rIns="0" bIns="0" rtlCol="0" anchor="t"/>
          <a:lstStyle/>
          <a:p>
            <a:pPr indent="0" marL="0">
              <a:buNone/>
            </a:pPr>
            <a:r>
              <a:rPr lang="en-US" sz="1450" dirty="0">
                <a:solidFill>
                  <a:srgbClr val="5A6B7B"/>
                </a:solidFill>
                <a:latin typeface="Calibri" pitchFamily="34" charset="0"/>
                <a:ea typeface="Calibri" pitchFamily="34" charset="-122"/>
                <a:cs typeface="Calibri" pitchFamily="34" charset="-120"/>
              </a:rPr>
              <a:t>Profile data &amp; org chart with Teams + email deeplinks</a:t>
            </a:r>
            <a:endParaRPr lang="en-US" sz="1450" dirty="0"/>
          </a:p>
        </p:txBody>
      </p:sp>
      <p:sp>
        <p:nvSpPr>
          <p:cNvPr id="9" name="Shape 6"/>
          <p:cNvSpPr/>
          <p:nvPr/>
        </p:nvSpPr>
        <p:spPr>
          <a:xfrm>
            <a:off x="4480560" y="1417320"/>
            <a:ext cx="3593592" cy="2148840"/>
          </a:xfrm>
          <a:prstGeom prst="roundRect">
            <a:avLst>
              <a:gd name="adj" fmla="val 4255"/>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sp>
        <p:nvSpPr>
          <p:cNvPr id="10" name="Shape 7"/>
          <p:cNvSpPr/>
          <p:nvPr/>
        </p:nvSpPr>
        <p:spPr>
          <a:xfrm>
            <a:off x="4773168" y="1709928"/>
            <a:ext cx="713232" cy="713232"/>
          </a:xfrm>
          <a:prstGeom prst="ellipse">
            <a:avLst/>
          </a:prstGeom>
          <a:solidFill>
            <a:srgbClr val="232F3E"/>
          </a:solidFill>
          <a:ln/>
        </p:spPr>
      </p:sp>
      <p:pic>
        <p:nvPicPr>
          <p:cNvPr id="11" name="Image 1" descr="preencoded.png">    </p:cNvPr>
          <p:cNvPicPr>
            <a:picLocks noChangeAspect="1"/>
          </p:cNvPicPr>
          <p:nvPr/>
        </p:nvPicPr>
        <p:blipFill>
          <a:blip r:embed="rId2"/>
          <a:stretch>
            <a:fillRect/>
          </a:stretch>
        </p:blipFill>
        <p:spPr>
          <a:xfrm>
            <a:off x="4928616" y="1865376"/>
            <a:ext cx="402336" cy="402336"/>
          </a:xfrm>
          <a:prstGeom prst="rect">
            <a:avLst/>
          </a:prstGeom>
        </p:spPr>
      </p:pic>
      <p:sp>
        <p:nvSpPr>
          <p:cNvPr id="12" name="Text 8"/>
          <p:cNvSpPr/>
          <p:nvPr/>
        </p:nvSpPr>
        <p:spPr>
          <a:xfrm>
            <a:off x="5623560" y="1728216"/>
            <a:ext cx="2313432" cy="411480"/>
          </a:xfrm>
          <a:prstGeom prst="rect">
            <a:avLst/>
          </a:prstGeom>
          <a:noFill/>
          <a:ln/>
        </p:spPr>
        <p:txBody>
          <a:bodyPr wrap="square" lIns="0" tIns="0" rIns="0" bIns="0" rtlCol="0" anchor="ctr"/>
          <a:lstStyle/>
          <a:p>
            <a:pPr indent="0" marL="0">
              <a:buNone/>
            </a:pPr>
            <a:r>
              <a:rPr lang="en-US" sz="2000" b="1" dirty="0">
                <a:solidFill>
                  <a:srgbClr val="232F3E"/>
                </a:solidFill>
                <a:latin typeface="Cambria" pitchFamily="34" charset="0"/>
                <a:ea typeface="Cambria" pitchFamily="34" charset="-122"/>
                <a:cs typeface="Cambria" pitchFamily="34" charset="-120"/>
              </a:rPr>
              <a:t>Setup</a:t>
            </a:r>
            <a:endParaRPr lang="en-US" sz="2000" dirty="0"/>
          </a:p>
        </p:txBody>
      </p:sp>
      <p:sp>
        <p:nvSpPr>
          <p:cNvPr id="13" name="Text 9"/>
          <p:cNvSpPr/>
          <p:nvPr/>
        </p:nvSpPr>
        <p:spPr>
          <a:xfrm>
            <a:off x="5623560" y="2130552"/>
            <a:ext cx="2313432"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Lambda</a:t>
            </a:r>
            <a:endParaRPr lang="en-US" sz="1200" dirty="0"/>
          </a:p>
        </p:txBody>
      </p:sp>
      <p:sp>
        <p:nvSpPr>
          <p:cNvPr id="14" name="Text 10"/>
          <p:cNvSpPr/>
          <p:nvPr/>
        </p:nvSpPr>
        <p:spPr>
          <a:xfrm>
            <a:off x="4791456" y="2651760"/>
            <a:ext cx="2990088" cy="777240"/>
          </a:xfrm>
          <a:prstGeom prst="rect">
            <a:avLst/>
          </a:prstGeom>
          <a:noFill/>
          <a:ln/>
        </p:spPr>
        <p:txBody>
          <a:bodyPr wrap="square" lIns="0" tIns="0" rIns="0" bIns="0" rtlCol="0" anchor="t"/>
          <a:lstStyle/>
          <a:p>
            <a:pPr indent="0" marL="0">
              <a:buNone/>
            </a:pPr>
            <a:r>
              <a:rPr lang="en-US" sz="1450" dirty="0">
                <a:solidFill>
                  <a:srgbClr val="5A6B7B"/>
                </a:solidFill>
                <a:latin typeface="Calibri" pitchFamily="34" charset="0"/>
                <a:ea typeface="Calibri" pitchFamily="34" charset="-122"/>
                <a:cs typeface="Calibri" pitchFamily="34" charset="-120"/>
              </a:rPr>
              <a:t>Provisions VPN, email, SharePoint, Workday &amp; software</a:t>
            </a:r>
            <a:endParaRPr lang="en-US" sz="1450" dirty="0"/>
          </a:p>
        </p:txBody>
      </p:sp>
      <p:sp>
        <p:nvSpPr>
          <p:cNvPr id="15" name="Shape 11"/>
          <p:cNvSpPr/>
          <p:nvPr/>
        </p:nvSpPr>
        <p:spPr>
          <a:xfrm>
            <a:off x="8321040" y="1417320"/>
            <a:ext cx="3593592" cy="2148840"/>
          </a:xfrm>
          <a:prstGeom prst="roundRect">
            <a:avLst>
              <a:gd name="adj" fmla="val 4255"/>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sp>
        <p:nvSpPr>
          <p:cNvPr id="16" name="Shape 12"/>
          <p:cNvSpPr/>
          <p:nvPr/>
        </p:nvSpPr>
        <p:spPr>
          <a:xfrm>
            <a:off x="8613648" y="1709928"/>
            <a:ext cx="713232" cy="713232"/>
          </a:xfrm>
          <a:prstGeom prst="ellipse">
            <a:avLst/>
          </a:prstGeom>
          <a:solidFill>
            <a:srgbClr val="232F3E"/>
          </a:solidFill>
          <a:ln/>
        </p:spPr>
      </p:sp>
      <p:pic>
        <p:nvPicPr>
          <p:cNvPr id="17" name="Image 2" descr="preencoded.png">    </p:cNvPr>
          <p:cNvPicPr>
            <a:picLocks noChangeAspect="1"/>
          </p:cNvPicPr>
          <p:nvPr/>
        </p:nvPicPr>
        <p:blipFill>
          <a:blip r:embed="rId3"/>
          <a:stretch>
            <a:fillRect/>
          </a:stretch>
        </p:blipFill>
        <p:spPr>
          <a:xfrm>
            <a:off x="8769096" y="1865376"/>
            <a:ext cx="402336" cy="402336"/>
          </a:xfrm>
          <a:prstGeom prst="rect">
            <a:avLst/>
          </a:prstGeom>
        </p:spPr>
      </p:pic>
      <p:sp>
        <p:nvSpPr>
          <p:cNvPr id="18" name="Text 13"/>
          <p:cNvSpPr/>
          <p:nvPr/>
        </p:nvSpPr>
        <p:spPr>
          <a:xfrm>
            <a:off x="9464040" y="1728216"/>
            <a:ext cx="2313432" cy="411480"/>
          </a:xfrm>
          <a:prstGeom prst="rect">
            <a:avLst/>
          </a:prstGeom>
          <a:noFill/>
          <a:ln/>
        </p:spPr>
        <p:txBody>
          <a:bodyPr wrap="square" lIns="0" tIns="0" rIns="0" bIns="0" rtlCol="0" anchor="ctr"/>
          <a:lstStyle/>
          <a:p>
            <a:pPr indent="0" marL="0">
              <a:buNone/>
            </a:pPr>
            <a:r>
              <a:rPr lang="en-US" sz="2000" b="1" dirty="0">
                <a:solidFill>
                  <a:srgbClr val="232F3E"/>
                </a:solidFill>
                <a:latin typeface="Cambria" pitchFamily="34" charset="0"/>
                <a:ea typeface="Cambria" pitchFamily="34" charset="-122"/>
                <a:cs typeface="Cambria" pitchFamily="34" charset="-120"/>
              </a:rPr>
              <a:t>Knowledge</a:t>
            </a:r>
            <a:endParaRPr lang="en-US" sz="2000" dirty="0"/>
          </a:p>
        </p:txBody>
      </p:sp>
      <p:sp>
        <p:nvSpPr>
          <p:cNvPr id="19" name="Text 14"/>
          <p:cNvSpPr/>
          <p:nvPr/>
        </p:nvSpPr>
        <p:spPr>
          <a:xfrm>
            <a:off x="9464040" y="2130552"/>
            <a:ext cx="2313432"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Bedrock KB</a:t>
            </a:r>
            <a:endParaRPr lang="en-US" sz="1200" dirty="0"/>
          </a:p>
        </p:txBody>
      </p:sp>
      <p:sp>
        <p:nvSpPr>
          <p:cNvPr id="20" name="Text 15"/>
          <p:cNvSpPr/>
          <p:nvPr/>
        </p:nvSpPr>
        <p:spPr>
          <a:xfrm>
            <a:off x="8631936" y="2651760"/>
            <a:ext cx="2990088" cy="777240"/>
          </a:xfrm>
          <a:prstGeom prst="rect">
            <a:avLst/>
          </a:prstGeom>
          <a:noFill/>
          <a:ln/>
        </p:spPr>
        <p:txBody>
          <a:bodyPr wrap="square" lIns="0" tIns="0" rIns="0" bIns="0" rtlCol="0" anchor="t"/>
          <a:lstStyle/>
          <a:p>
            <a:pPr indent="0" marL="0">
              <a:buNone/>
            </a:pPr>
            <a:r>
              <a:rPr lang="en-US" sz="1450" dirty="0">
                <a:solidFill>
                  <a:srgbClr val="5A6B7B"/>
                </a:solidFill>
                <a:latin typeface="Calibri" pitchFamily="34" charset="0"/>
                <a:ea typeface="Calibri" pitchFamily="34" charset="-122"/>
                <a:cs typeface="Calibri" pitchFamily="34" charset="-120"/>
              </a:rPr>
              <a:t>Role &amp; clearance-filtered RAG answers with citations</a:t>
            </a:r>
            <a:endParaRPr lang="en-US" sz="1450" dirty="0"/>
          </a:p>
        </p:txBody>
      </p:sp>
      <p:sp>
        <p:nvSpPr>
          <p:cNvPr id="21" name="Shape 16"/>
          <p:cNvSpPr/>
          <p:nvPr/>
        </p:nvSpPr>
        <p:spPr>
          <a:xfrm>
            <a:off x="640080" y="3822192"/>
            <a:ext cx="3593592" cy="2148840"/>
          </a:xfrm>
          <a:prstGeom prst="roundRect">
            <a:avLst>
              <a:gd name="adj" fmla="val 4255"/>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sp>
        <p:nvSpPr>
          <p:cNvPr id="22" name="Shape 17"/>
          <p:cNvSpPr/>
          <p:nvPr/>
        </p:nvSpPr>
        <p:spPr>
          <a:xfrm>
            <a:off x="932688" y="4114800"/>
            <a:ext cx="713232" cy="713232"/>
          </a:xfrm>
          <a:prstGeom prst="ellipse">
            <a:avLst/>
          </a:prstGeom>
          <a:solidFill>
            <a:srgbClr val="232F3E"/>
          </a:solidFill>
          <a:ln/>
        </p:spPr>
      </p:sp>
      <p:pic>
        <p:nvPicPr>
          <p:cNvPr id="23" name="Image 3" descr="preencoded.png">    </p:cNvPr>
          <p:cNvPicPr>
            <a:picLocks noChangeAspect="1"/>
          </p:cNvPicPr>
          <p:nvPr/>
        </p:nvPicPr>
        <p:blipFill>
          <a:blip r:embed="rId4"/>
          <a:stretch>
            <a:fillRect/>
          </a:stretch>
        </p:blipFill>
        <p:spPr>
          <a:xfrm>
            <a:off x="1088136" y="4270248"/>
            <a:ext cx="402336" cy="402336"/>
          </a:xfrm>
          <a:prstGeom prst="rect">
            <a:avLst/>
          </a:prstGeom>
        </p:spPr>
      </p:pic>
      <p:sp>
        <p:nvSpPr>
          <p:cNvPr id="24" name="Text 18"/>
          <p:cNvSpPr/>
          <p:nvPr/>
        </p:nvSpPr>
        <p:spPr>
          <a:xfrm>
            <a:off x="1783080" y="4133088"/>
            <a:ext cx="2313432" cy="411480"/>
          </a:xfrm>
          <a:prstGeom prst="rect">
            <a:avLst/>
          </a:prstGeom>
          <a:noFill/>
          <a:ln/>
        </p:spPr>
        <p:txBody>
          <a:bodyPr wrap="square" lIns="0" tIns="0" rIns="0" bIns="0" rtlCol="0" anchor="ctr"/>
          <a:lstStyle/>
          <a:p>
            <a:pPr indent="0" marL="0">
              <a:buNone/>
            </a:pPr>
            <a:r>
              <a:rPr lang="en-US" sz="2000" b="1" dirty="0">
                <a:solidFill>
                  <a:srgbClr val="232F3E"/>
                </a:solidFill>
                <a:latin typeface="Cambria" pitchFamily="34" charset="0"/>
                <a:ea typeface="Cambria" pitchFamily="34" charset="-122"/>
                <a:cs typeface="Cambria" pitchFamily="34" charset="-120"/>
              </a:rPr>
              <a:t>Communication</a:t>
            </a:r>
            <a:endParaRPr lang="en-US" sz="2000" dirty="0"/>
          </a:p>
        </p:txBody>
      </p:sp>
      <p:sp>
        <p:nvSpPr>
          <p:cNvPr id="25" name="Text 19"/>
          <p:cNvSpPr/>
          <p:nvPr/>
        </p:nvSpPr>
        <p:spPr>
          <a:xfrm>
            <a:off x="1783080" y="4535424"/>
            <a:ext cx="2313432"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Amazon SES</a:t>
            </a:r>
            <a:endParaRPr lang="en-US" sz="1200" dirty="0"/>
          </a:p>
        </p:txBody>
      </p:sp>
      <p:sp>
        <p:nvSpPr>
          <p:cNvPr id="26" name="Text 20"/>
          <p:cNvSpPr/>
          <p:nvPr/>
        </p:nvSpPr>
        <p:spPr>
          <a:xfrm>
            <a:off x="950976" y="5056632"/>
            <a:ext cx="2990088" cy="777240"/>
          </a:xfrm>
          <a:prstGeom prst="rect">
            <a:avLst/>
          </a:prstGeom>
          <a:noFill/>
          <a:ln/>
        </p:spPr>
        <p:txBody>
          <a:bodyPr wrap="square" lIns="0" tIns="0" rIns="0" bIns="0" rtlCol="0" anchor="t"/>
          <a:lstStyle/>
          <a:p>
            <a:pPr indent="0" marL="0">
              <a:buNone/>
            </a:pPr>
            <a:r>
              <a:rPr lang="en-US" sz="1450" dirty="0">
                <a:solidFill>
                  <a:srgbClr val="5A6B7B"/>
                </a:solidFill>
                <a:latin typeface="Calibri" pitchFamily="34" charset="0"/>
                <a:ea typeface="Calibri" pitchFamily="34" charset="-122"/>
                <a:cs typeface="Calibri" pitchFamily="34" charset="-120"/>
              </a:rPr>
              <a:t>Welcome emails, Teams posts &amp; manager briefings</a:t>
            </a:r>
            <a:endParaRPr lang="en-US" sz="1450" dirty="0"/>
          </a:p>
        </p:txBody>
      </p:sp>
      <p:sp>
        <p:nvSpPr>
          <p:cNvPr id="27" name="Shape 21"/>
          <p:cNvSpPr/>
          <p:nvPr/>
        </p:nvSpPr>
        <p:spPr>
          <a:xfrm>
            <a:off x="4480560" y="3822192"/>
            <a:ext cx="3593592" cy="2148840"/>
          </a:xfrm>
          <a:prstGeom prst="roundRect">
            <a:avLst>
              <a:gd name="adj" fmla="val 4255"/>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sp>
        <p:nvSpPr>
          <p:cNvPr id="28" name="Shape 22"/>
          <p:cNvSpPr/>
          <p:nvPr/>
        </p:nvSpPr>
        <p:spPr>
          <a:xfrm>
            <a:off x="4773168" y="4114800"/>
            <a:ext cx="713232" cy="713232"/>
          </a:xfrm>
          <a:prstGeom prst="ellipse">
            <a:avLst/>
          </a:prstGeom>
          <a:solidFill>
            <a:srgbClr val="232F3E"/>
          </a:solidFill>
          <a:ln/>
        </p:spPr>
      </p:sp>
      <p:pic>
        <p:nvPicPr>
          <p:cNvPr id="29" name="Image 4" descr="preencoded.png">    </p:cNvPr>
          <p:cNvPicPr>
            <a:picLocks noChangeAspect="1"/>
          </p:cNvPicPr>
          <p:nvPr/>
        </p:nvPicPr>
        <p:blipFill>
          <a:blip r:embed="rId5"/>
          <a:stretch>
            <a:fillRect/>
          </a:stretch>
        </p:blipFill>
        <p:spPr>
          <a:xfrm>
            <a:off x="4928616" y="4270248"/>
            <a:ext cx="402336" cy="402336"/>
          </a:xfrm>
          <a:prstGeom prst="rect">
            <a:avLst/>
          </a:prstGeom>
        </p:spPr>
      </p:pic>
      <p:sp>
        <p:nvSpPr>
          <p:cNvPr id="30" name="Text 23"/>
          <p:cNvSpPr/>
          <p:nvPr/>
        </p:nvSpPr>
        <p:spPr>
          <a:xfrm>
            <a:off x="5623560" y="4133088"/>
            <a:ext cx="2313432" cy="411480"/>
          </a:xfrm>
          <a:prstGeom prst="rect">
            <a:avLst/>
          </a:prstGeom>
          <a:noFill/>
          <a:ln/>
        </p:spPr>
        <p:txBody>
          <a:bodyPr wrap="square" lIns="0" tIns="0" rIns="0" bIns="0" rtlCol="0" anchor="ctr"/>
          <a:lstStyle/>
          <a:p>
            <a:pPr indent="0" marL="0">
              <a:buNone/>
            </a:pPr>
            <a:r>
              <a:rPr lang="en-US" sz="2000" b="1" dirty="0">
                <a:solidFill>
                  <a:srgbClr val="232F3E"/>
                </a:solidFill>
                <a:latin typeface="Cambria" pitchFamily="34" charset="0"/>
                <a:ea typeface="Cambria" pitchFamily="34" charset="-122"/>
                <a:cs typeface="Cambria" pitchFamily="34" charset="-120"/>
              </a:rPr>
              <a:t>Daily Task</a:t>
            </a:r>
            <a:endParaRPr lang="en-US" sz="2000" dirty="0"/>
          </a:p>
        </p:txBody>
      </p:sp>
      <p:sp>
        <p:nvSpPr>
          <p:cNvPr id="31" name="Text 24"/>
          <p:cNvSpPr/>
          <p:nvPr/>
        </p:nvSpPr>
        <p:spPr>
          <a:xfrm>
            <a:off x="5623560" y="4535424"/>
            <a:ext cx="2313432"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DynamoDB</a:t>
            </a:r>
            <a:endParaRPr lang="en-US" sz="1200" dirty="0"/>
          </a:p>
        </p:txBody>
      </p:sp>
      <p:sp>
        <p:nvSpPr>
          <p:cNvPr id="32" name="Text 25"/>
          <p:cNvSpPr/>
          <p:nvPr/>
        </p:nvSpPr>
        <p:spPr>
          <a:xfrm>
            <a:off x="4791456" y="5056632"/>
            <a:ext cx="2990088" cy="777240"/>
          </a:xfrm>
          <a:prstGeom prst="rect">
            <a:avLst/>
          </a:prstGeom>
          <a:noFill/>
          <a:ln/>
        </p:spPr>
        <p:txBody>
          <a:bodyPr wrap="square" lIns="0" tIns="0" rIns="0" bIns="0" rtlCol="0" anchor="t"/>
          <a:lstStyle/>
          <a:p>
            <a:pPr indent="0" marL="0">
              <a:buNone/>
            </a:pPr>
            <a:r>
              <a:rPr lang="en-US" sz="1450" dirty="0">
                <a:solidFill>
                  <a:srgbClr val="5A6B7B"/>
                </a:solidFill>
                <a:latin typeface="Calibri" pitchFamily="34" charset="0"/>
                <a:ea typeface="Calibri" pitchFamily="34" charset="-122"/>
                <a:cs typeface="Calibri" pitchFamily="34" charset="-120"/>
              </a:rPr>
              <a:t>Day-one tasks, incidents &amp; training in real time</a:t>
            </a:r>
            <a:endParaRPr lang="en-US" sz="1450" dirty="0"/>
          </a:p>
        </p:txBody>
      </p:sp>
      <p:sp>
        <p:nvSpPr>
          <p:cNvPr id="33" name="Shape 26"/>
          <p:cNvSpPr/>
          <p:nvPr/>
        </p:nvSpPr>
        <p:spPr>
          <a:xfrm>
            <a:off x="8321040" y="3822192"/>
            <a:ext cx="3593592" cy="2148840"/>
          </a:xfrm>
          <a:prstGeom prst="roundRect">
            <a:avLst>
              <a:gd name="adj" fmla="val 4255"/>
            </a:avLst>
          </a:prstGeom>
          <a:solidFill>
            <a:srgbClr val="232F3E"/>
          </a:solidFill>
          <a:ln/>
          <a:effectLst>
            <a:outerShdw sx="100000" sy="100000" kx="0" ky="0" algn="bl" rotWithShape="0" blurRad="101600" dist="38100" dir="5400000">
              <a:srgbClr val="000000">
                <a:alpha val="18000"/>
              </a:srgbClr>
            </a:outerShdw>
          </a:effectLst>
        </p:spPr>
      </p:sp>
      <p:pic>
        <p:nvPicPr>
          <p:cNvPr id="34" name="Image 5" descr="preencoded.png">    </p:cNvPr>
          <p:cNvPicPr>
            <a:picLocks noChangeAspect="1"/>
          </p:cNvPicPr>
          <p:nvPr/>
        </p:nvPicPr>
        <p:blipFill>
          <a:blip r:embed="rId6"/>
          <a:stretch>
            <a:fillRect/>
          </a:stretch>
        </p:blipFill>
        <p:spPr>
          <a:xfrm>
            <a:off x="8631936" y="4133088"/>
            <a:ext cx="502920" cy="502920"/>
          </a:xfrm>
          <a:prstGeom prst="rect">
            <a:avLst/>
          </a:prstGeom>
        </p:spPr>
      </p:pic>
      <p:sp>
        <p:nvSpPr>
          <p:cNvPr id="35" name="Text 27"/>
          <p:cNvSpPr/>
          <p:nvPr/>
        </p:nvSpPr>
        <p:spPr>
          <a:xfrm>
            <a:off x="8631936" y="4736592"/>
            <a:ext cx="2990088" cy="10058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All coordinated by the Orchestrator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a request flows through AWS-IQ</a:t>
            </a:r>
            <a:endParaRPr lang="en-US" sz="3200" dirty="0"/>
          </a:p>
        </p:txBody>
      </p:sp>
      <p:sp>
        <p:nvSpPr>
          <p:cNvPr id="3" name="Text 1"/>
          <p:cNvSpPr/>
          <p:nvPr/>
        </p:nvSpPr>
        <p:spPr>
          <a:xfrm>
            <a:off x="658368" y="1207008"/>
            <a:ext cx="10515600" cy="457200"/>
          </a:xfrm>
          <a:prstGeom prst="rect">
            <a:avLst/>
          </a:prstGeom>
          <a:noFill/>
          <a:ln/>
        </p:spPr>
        <p:txBody>
          <a:bodyPr wrap="square" lIns="0" tIns="0" rIns="0" bIns="0" rtlCol="0" anchor="ctr"/>
          <a:lstStyle/>
          <a:p>
            <a:pPr indent="0" marL="0">
              <a:buNone/>
            </a:pPr>
            <a:r>
              <a:rPr lang="en-US" sz="1700" dirty="0">
                <a:solidFill>
                  <a:srgbClr val="CFD8E3"/>
                </a:solidFill>
                <a:latin typeface="Calibri" pitchFamily="34" charset="0"/>
                <a:ea typeface="Calibri" pitchFamily="34" charset="-122"/>
                <a:cs typeface="Calibri" pitchFamily="34" charset="-120"/>
              </a:rPr>
              <a:t>Serverless end to end — built entirely on AWS managed services.</a:t>
            </a:r>
            <a:endParaRPr lang="en-US" sz="1700" dirty="0"/>
          </a:p>
        </p:txBody>
      </p:sp>
      <p:sp>
        <p:nvSpPr>
          <p:cNvPr id="4" name="Shape 2"/>
          <p:cNvSpPr/>
          <p:nvPr/>
        </p:nvSpPr>
        <p:spPr>
          <a:xfrm>
            <a:off x="640080" y="2148840"/>
            <a:ext cx="1810512" cy="1828800"/>
          </a:xfrm>
          <a:prstGeom prst="roundRect">
            <a:avLst>
              <a:gd name="adj" fmla="val 5051"/>
            </a:avLst>
          </a:prstGeom>
          <a:solidFill>
            <a:srgbClr val="2E3B4E"/>
          </a:solidFill>
          <a:ln w="12700">
            <a:solidFill>
              <a:srgbClr val="3C4C60"/>
            </a:solidFill>
            <a:prstDash val="solid"/>
          </a:ln>
        </p:spPr>
      </p:sp>
      <p:pic>
        <p:nvPicPr>
          <p:cNvPr id="5" name="Image 0" descr="preencoded.png">    </p:cNvPr>
          <p:cNvPicPr>
            <a:picLocks noChangeAspect="1"/>
          </p:cNvPicPr>
          <p:nvPr/>
        </p:nvPicPr>
        <p:blipFill>
          <a:blip r:embed="rId1"/>
          <a:stretch>
            <a:fillRect/>
          </a:stretch>
        </p:blipFill>
        <p:spPr>
          <a:xfrm>
            <a:off x="1243584" y="2441448"/>
            <a:ext cx="603504" cy="603504"/>
          </a:xfrm>
          <a:prstGeom prst="rect">
            <a:avLst/>
          </a:prstGeom>
        </p:spPr>
      </p:pic>
      <p:sp>
        <p:nvSpPr>
          <p:cNvPr id="6" name="Text 3"/>
          <p:cNvSpPr/>
          <p:nvPr/>
        </p:nvSpPr>
        <p:spPr>
          <a:xfrm>
            <a:off x="640080" y="3108960"/>
            <a:ext cx="181051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Dashboard</a:t>
            </a:r>
            <a:endParaRPr lang="en-US" sz="1600" dirty="0"/>
          </a:p>
        </p:txBody>
      </p:sp>
      <p:sp>
        <p:nvSpPr>
          <p:cNvPr id="7" name="Text 4"/>
          <p:cNvSpPr/>
          <p:nvPr/>
        </p:nvSpPr>
        <p:spPr>
          <a:xfrm>
            <a:off x="640080" y="3474720"/>
            <a:ext cx="1810512" cy="411480"/>
          </a:xfrm>
          <a:prstGeom prst="rect">
            <a:avLst/>
          </a:prstGeom>
          <a:noFill/>
          <a:ln/>
        </p:spPr>
        <p:txBody>
          <a:bodyPr wrap="square" lIns="0" tIns="0" rIns="0" bIns="0" rtlCol="0" anchor="ctr"/>
          <a:lstStyle/>
          <a:p>
            <a:pPr algn="ctr" indent="0" marL="0">
              <a:buNone/>
            </a:pPr>
            <a:r>
              <a:rPr lang="en-US" sz="1250" dirty="0">
                <a:solidFill>
                  <a:srgbClr val="9FB0C2"/>
                </a:solidFill>
                <a:latin typeface="Calibri" pitchFamily="34" charset="0"/>
                <a:ea typeface="Calibri" pitchFamily="34" charset="-122"/>
                <a:cs typeface="Calibri" pitchFamily="34" charset="-120"/>
              </a:rPr>
              <a:t>HTML / JS UI</a:t>
            </a:r>
            <a:endParaRPr lang="en-US" sz="1250" dirty="0"/>
          </a:p>
        </p:txBody>
      </p:sp>
      <p:pic>
        <p:nvPicPr>
          <p:cNvPr id="8" name="Image 1" descr="preencoded.png">    </p:cNvPr>
          <p:cNvPicPr>
            <a:picLocks noChangeAspect="1"/>
          </p:cNvPicPr>
          <p:nvPr/>
        </p:nvPicPr>
        <p:blipFill>
          <a:blip r:embed="rId2"/>
          <a:stretch>
            <a:fillRect/>
          </a:stretch>
        </p:blipFill>
        <p:spPr>
          <a:xfrm>
            <a:off x="2487168" y="2862072"/>
            <a:ext cx="411480" cy="411480"/>
          </a:xfrm>
          <a:prstGeom prst="rect">
            <a:avLst/>
          </a:prstGeom>
        </p:spPr>
      </p:pic>
      <p:sp>
        <p:nvSpPr>
          <p:cNvPr id="9" name="Shape 5"/>
          <p:cNvSpPr/>
          <p:nvPr/>
        </p:nvSpPr>
        <p:spPr>
          <a:xfrm>
            <a:off x="2907792" y="2148840"/>
            <a:ext cx="1810512" cy="1828800"/>
          </a:xfrm>
          <a:prstGeom prst="roundRect">
            <a:avLst>
              <a:gd name="adj" fmla="val 5051"/>
            </a:avLst>
          </a:prstGeom>
          <a:solidFill>
            <a:srgbClr val="2E3B4E"/>
          </a:solidFill>
          <a:ln w="12700">
            <a:solidFill>
              <a:srgbClr val="3C4C60"/>
            </a:solidFill>
            <a:prstDash val="solid"/>
          </a:ln>
        </p:spPr>
      </p:sp>
      <p:pic>
        <p:nvPicPr>
          <p:cNvPr id="10" name="Image 2" descr="preencoded.png">    </p:cNvPr>
          <p:cNvPicPr>
            <a:picLocks noChangeAspect="1"/>
          </p:cNvPicPr>
          <p:nvPr/>
        </p:nvPicPr>
        <p:blipFill>
          <a:blip r:embed="rId3"/>
          <a:stretch>
            <a:fillRect/>
          </a:stretch>
        </p:blipFill>
        <p:spPr>
          <a:xfrm>
            <a:off x="3511296" y="2441448"/>
            <a:ext cx="603504" cy="603504"/>
          </a:xfrm>
          <a:prstGeom prst="rect">
            <a:avLst/>
          </a:prstGeom>
        </p:spPr>
      </p:pic>
      <p:sp>
        <p:nvSpPr>
          <p:cNvPr id="11" name="Text 6"/>
          <p:cNvSpPr/>
          <p:nvPr/>
        </p:nvSpPr>
        <p:spPr>
          <a:xfrm>
            <a:off x="2907792" y="3108960"/>
            <a:ext cx="181051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API Gateway</a:t>
            </a:r>
            <a:endParaRPr lang="en-US" sz="1600" dirty="0"/>
          </a:p>
        </p:txBody>
      </p:sp>
      <p:sp>
        <p:nvSpPr>
          <p:cNvPr id="12" name="Text 7"/>
          <p:cNvSpPr/>
          <p:nvPr/>
        </p:nvSpPr>
        <p:spPr>
          <a:xfrm>
            <a:off x="2907792" y="3474720"/>
            <a:ext cx="1810512" cy="411480"/>
          </a:xfrm>
          <a:prstGeom prst="rect">
            <a:avLst/>
          </a:prstGeom>
          <a:noFill/>
          <a:ln/>
        </p:spPr>
        <p:txBody>
          <a:bodyPr wrap="square" lIns="0" tIns="0" rIns="0" bIns="0" rtlCol="0" anchor="ctr"/>
          <a:lstStyle/>
          <a:p>
            <a:pPr algn="ctr" indent="0" marL="0">
              <a:buNone/>
            </a:pPr>
            <a:r>
              <a:rPr lang="en-US" sz="1250" dirty="0">
                <a:solidFill>
                  <a:srgbClr val="9FB0C2"/>
                </a:solidFill>
                <a:latin typeface="Calibri" pitchFamily="34" charset="0"/>
                <a:ea typeface="Calibri" pitchFamily="34" charset="-122"/>
                <a:cs typeface="Calibri" pitchFamily="34" charset="-120"/>
              </a:rPr>
              <a:t>Auth · routing</a:t>
            </a:r>
            <a:endParaRPr lang="en-US" sz="1250" dirty="0"/>
          </a:p>
        </p:txBody>
      </p:sp>
      <p:pic>
        <p:nvPicPr>
          <p:cNvPr id="13" name="Image 3" descr="preencoded.png">    </p:cNvPr>
          <p:cNvPicPr>
            <a:picLocks noChangeAspect="1"/>
          </p:cNvPicPr>
          <p:nvPr/>
        </p:nvPicPr>
        <p:blipFill>
          <a:blip r:embed="rId4"/>
          <a:stretch>
            <a:fillRect/>
          </a:stretch>
        </p:blipFill>
        <p:spPr>
          <a:xfrm>
            <a:off x="4754880" y="2862072"/>
            <a:ext cx="411480" cy="411480"/>
          </a:xfrm>
          <a:prstGeom prst="rect">
            <a:avLst/>
          </a:prstGeom>
        </p:spPr>
      </p:pic>
      <p:sp>
        <p:nvSpPr>
          <p:cNvPr id="14" name="Shape 8"/>
          <p:cNvSpPr/>
          <p:nvPr/>
        </p:nvSpPr>
        <p:spPr>
          <a:xfrm>
            <a:off x="5175504" y="2148840"/>
            <a:ext cx="1810512" cy="1828800"/>
          </a:xfrm>
          <a:prstGeom prst="roundRect">
            <a:avLst>
              <a:gd name="adj" fmla="val 5051"/>
            </a:avLst>
          </a:prstGeom>
          <a:solidFill>
            <a:srgbClr val="2E3B4E"/>
          </a:solidFill>
          <a:ln w="12700">
            <a:solidFill>
              <a:srgbClr val="3C4C60"/>
            </a:solidFill>
            <a:prstDash val="solid"/>
          </a:ln>
        </p:spPr>
      </p:sp>
      <p:pic>
        <p:nvPicPr>
          <p:cNvPr id="15" name="Image 4" descr="preencoded.png">    </p:cNvPr>
          <p:cNvPicPr>
            <a:picLocks noChangeAspect="1"/>
          </p:cNvPicPr>
          <p:nvPr/>
        </p:nvPicPr>
        <p:blipFill>
          <a:blip r:embed="rId5"/>
          <a:stretch>
            <a:fillRect/>
          </a:stretch>
        </p:blipFill>
        <p:spPr>
          <a:xfrm>
            <a:off x="5779008" y="2441448"/>
            <a:ext cx="603504" cy="603504"/>
          </a:xfrm>
          <a:prstGeom prst="rect">
            <a:avLst/>
          </a:prstGeom>
        </p:spPr>
      </p:pic>
      <p:sp>
        <p:nvSpPr>
          <p:cNvPr id="16" name="Text 9"/>
          <p:cNvSpPr/>
          <p:nvPr/>
        </p:nvSpPr>
        <p:spPr>
          <a:xfrm>
            <a:off x="5175504" y="3108960"/>
            <a:ext cx="181051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Orchestrator</a:t>
            </a:r>
            <a:endParaRPr lang="en-US" sz="1600" dirty="0"/>
          </a:p>
        </p:txBody>
      </p:sp>
      <p:sp>
        <p:nvSpPr>
          <p:cNvPr id="17" name="Text 10"/>
          <p:cNvSpPr/>
          <p:nvPr/>
        </p:nvSpPr>
        <p:spPr>
          <a:xfrm>
            <a:off x="5175504" y="3474720"/>
            <a:ext cx="1810512" cy="411480"/>
          </a:xfrm>
          <a:prstGeom prst="rect">
            <a:avLst/>
          </a:prstGeom>
          <a:noFill/>
          <a:ln/>
        </p:spPr>
        <p:txBody>
          <a:bodyPr wrap="square" lIns="0" tIns="0" rIns="0" bIns="0" rtlCol="0" anchor="ctr"/>
          <a:lstStyle/>
          <a:p>
            <a:pPr algn="ctr" indent="0" marL="0">
              <a:buNone/>
            </a:pPr>
            <a:r>
              <a:rPr lang="en-US" sz="1250" dirty="0">
                <a:solidFill>
                  <a:srgbClr val="9FB0C2"/>
                </a:solidFill>
                <a:latin typeface="Calibri" pitchFamily="34" charset="0"/>
                <a:ea typeface="Calibri" pitchFamily="34" charset="-122"/>
                <a:cs typeface="Calibri" pitchFamily="34" charset="-120"/>
              </a:rPr>
              <a:t>Bedrock agents</a:t>
            </a:r>
            <a:endParaRPr lang="en-US" sz="1250" dirty="0"/>
          </a:p>
        </p:txBody>
      </p:sp>
      <p:pic>
        <p:nvPicPr>
          <p:cNvPr id="18" name="Image 5" descr="preencoded.png">    </p:cNvPr>
          <p:cNvPicPr>
            <a:picLocks noChangeAspect="1"/>
          </p:cNvPicPr>
          <p:nvPr/>
        </p:nvPicPr>
        <p:blipFill>
          <a:blip r:embed="rId6"/>
          <a:stretch>
            <a:fillRect/>
          </a:stretch>
        </p:blipFill>
        <p:spPr>
          <a:xfrm>
            <a:off x="7022592" y="2862072"/>
            <a:ext cx="411480" cy="411480"/>
          </a:xfrm>
          <a:prstGeom prst="rect">
            <a:avLst/>
          </a:prstGeom>
        </p:spPr>
      </p:pic>
      <p:sp>
        <p:nvSpPr>
          <p:cNvPr id="19" name="Shape 11"/>
          <p:cNvSpPr/>
          <p:nvPr/>
        </p:nvSpPr>
        <p:spPr>
          <a:xfrm>
            <a:off x="7443216" y="2148840"/>
            <a:ext cx="1810512" cy="1828800"/>
          </a:xfrm>
          <a:prstGeom prst="roundRect">
            <a:avLst>
              <a:gd name="adj" fmla="val 5051"/>
            </a:avLst>
          </a:prstGeom>
          <a:solidFill>
            <a:srgbClr val="2E3B4E"/>
          </a:solidFill>
          <a:ln w="12700">
            <a:solidFill>
              <a:srgbClr val="3C4C60"/>
            </a:solidFill>
            <a:prstDash val="solid"/>
          </a:ln>
        </p:spPr>
      </p:sp>
      <p:pic>
        <p:nvPicPr>
          <p:cNvPr id="20" name="Image 6" descr="preencoded.png">    </p:cNvPr>
          <p:cNvPicPr>
            <a:picLocks noChangeAspect="1"/>
          </p:cNvPicPr>
          <p:nvPr/>
        </p:nvPicPr>
        <p:blipFill>
          <a:blip r:embed="rId7"/>
          <a:stretch>
            <a:fillRect/>
          </a:stretch>
        </p:blipFill>
        <p:spPr>
          <a:xfrm>
            <a:off x="8046720" y="2441448"/>
            <a:ext cx="603504" cy="603504"/>
          </a:xfrm>
          <a:prstGeom prst="rect">
            <a:avLst/>
          </a:prstGeom>
        </p:spPr>
      </p:pic>
      <p:sp>
        <p:nvSpPr>
          <p:cNvPr id="21" name="Text 12"/>
          <p:cNvSpPr/>
          <p:nvPr/>
        </p:nvSpPr>
        <p:spPr>
          <a:xfrm>
            <a:off x="7443216" y="3108960"/>
            <a:ext cx="181051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Lambda</a:t>
            </a:r>
            <a:endParaRPr lang="en-US" sz="1600" dirty="0"/>
          </a:p>
        </p:txBody>
      </p:sp>
      <p:sp>
        <p:nvSpPr>
          <p:cNvPr id="22" name="Text 13"/>
          <p:cNvSpPr/>
          <p:nvPr/>
        </p:nvSpPr>
        <p:spPr>
          <a:xfrm>
            <a:off x="7443216" y="3474720"/>
            <a:ext cx="1810512" cy="411480"/>
          </a:xfrm>
          <a:prstGeom prst="rect">
            <a:avLst/>
          </a:prstGeom>
          <a:noFill/>
          <a:ln/>
        </p:spPr>
        <p:txBody>
          <a:bodyPr wrap="square" lIns="0" tIns="0" rIns="0" bIns="0" rtlCol="0" anchor="ctr"/>
          <a:lstStyle/>
          <a:p>
            <a:pPr algn="ctr" indent="0" marL="0">
              <a:buNone/>
            </a:pPr>
            <a:r>
              <a:rPr lang="en-US" sz="1250" dirty="0">
                <a:solidFill>
                  <a:srgbClr val="9FB0C2"/>
                </a:solidFill>
                <a:latin typeface="Calibri" pitchFamily="34" charset="0"/>
                <a:ea typeface="Calibri" pitchFamily="34" charset="-122"/>
                <a:cs typeface="Calibri" pitchFamily="34" charset="-120"/>
              </a:rPr>
              <a:t>Python logic</a:t>
            </a:r>
            <a:endParaRPr lang="en-US" sz="1250" dirty="0"/>
          </a:p>
        </p:txBody>
      </p:sp>
      <p:pic>
        <p:nvPicPr>
          <p:cNvPr id="23" name="Image 7" descr="preencoded.png">    </p:cNvPr>
          <p:cNvPicPr>
            <a:picLocks noChangeAspect="1"/>
          </p:cNvPicPr>
          <p:nvPr/>
        </p:nvPicPr>
        <p:blipFill>
          <a:blip r:embed="rId8"/>
          <a:stretch>
            <a:fillRect/>
          </a:stretch>
        </p:blipFill>
        <p:spPr>
          <a:xfrm>
            <a:off x="9290304" y="2862072"/>
            <a:ext cx="411480" cy="411480"/>
          </a:xfrm>
          <a:prstGeom prst="rect">
            <a:avLst/>
          </a:prstGeom>
        </p:spPr>
      </p:pic>
      <p:sp>
        <p:nvSpPr>
          <p:cNvPr id="24" name="Shape 14"/>
          <p:cNvSpPr/>
          <p:nvPr/>
        </p:nvSpPr>
        <p:spPr>
          <a:xfrm>
            <a:off x="9710928" y="2148840"/>
            <a:ext cx="1810512" cy="1828800"/>
          </a:xfrm>
          <a:prstGeom prst="roundRect">
            <a:avLst>
              <a:gd name="adj" fmla="val 5051"/>
            </a:avLst>
          </a:prstGeom>
          <a:solidFill>
            <a:srgbClr val="2E3B4E"/>
          </a:solidFill>
          <a:ln w="12700">
            <a:solidFill>
              <a:srgbClr val="3C4C60"/>
            </a:solidFill>
            <a:prstDash val="solid"/>
          </a:ln>
        </p:spPr>
      </p:sp>
      <p:pic>
        <p:nvPicPr>
          <p:cNvPr id="25" name="Image 8" descr="preencoded.png">    </p:cNvPr>
          <p:cNvPicPr>
            <a:picLocks noChangeAspect="1"/>
          </p:cNvPicPr>
          <p:nvPr/>
        </p:nvPicPr>
        <p:blipFill>
          <a:blip r:embed="rId9"/>
          <a:stretch>
            <a:fillRect/>
          </a:stretch>
        </p:blipFill>
        <p:spPr>
          <a:xfrm>
            <a:off x="10314432" y="2441448"/>
            <a:ext cx="603504" cy="603504"/>
          </a:xfrm>
          <a:prstGeom prst="rect">
            <a:avLst/>
          </a:prstGeom>
        </p:spPr>
      </p:pic>
      <p:sp>
        <p:nvSpPr>
          <p:cNvPr id="26" name="Text 15"/>
          <p:cNvSpPr/>
          <p:nvPr/>
        </p:nvSpPr>
        <p:spPr>
          <a:xfrm>
            <a:off x="9710928" y="3108960"/>
            <a:ext cx="181051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Data layer</a:t>
            </a:r>
            <a:endParaRPr lang="en-US" sz="1600" dirty="0"/>
          </a:p>
        </p:txBody>
      </p:sp>
      <p:sp>
        <p:nvSpPr>
          <p:cNvPr id="27" name="Text 16"/>
          <p:cNvSpPr/>
          <p:nvPr/>
        </p:nvSpPr>
        <p:spPr>
          <a:xfrm>
            <a:off x="9710928" y="3474720"/>
            <a:ext cx="1810512" cy="411480"/>
          </a:xfrm>
          <a:prstGeom prst="rect">
            <a:avLst/>
          </a:prstGeom>
          <a:noFill/>
          <a:ln/>
        </p:spPr>
        <p:txBody>
          <a:bodyPr wrap="square" lIns="0" tIns="0" rIns="0" bIns="0" rtlCol="0" anchor="ctr"/>
          <a:lstStyle/>
          <a:p>
            <a:pPr algn="ctr" indent="0" marL="0">
              <a:buNone/>
            </a:pPr>
            <a:r>
              <a:rPr lang="en-US" sz="1250" dirty="0">
                <a:solidFill>
                  <a:srgbClr val="9FB0C2"/>
                </a:solidFill>
                <a:latin typeface="Calibri" pitchFamily="34" charset="0"/>
                <a:ea typeface="Calibri" pitchFamily="34" charset="-122"/>
                <a:cs typeface="Calibri" pitchFamily="34" charset="-120"/>
              </a:rPr>
              <a:t>DynamoDB · S3 · KB</a:t>
            </a:r>
            <a:endParaRPr lang="en-US" sz="1250" dirty="0"/>
          </a:p>
        </p:txBody>
      </p:sp>
      <p:sp>
        <p:nvSpPr>
          <p:cNvPr id="28" name="Text 17"/>
          <p:cNvSpPr/>
          <p:nvPr/>
        </p:nvSpPr>
        <p:spPr>
          <a:xfrm>
            <a:off x="640080" y="4892040"/>
            <a:ext cx="10972800" cy="320040"/>
          </a:xfrm>
          <a:prstGeom prst="rect">
            <a:avLst/>
          </a:prstGeom>
          <a:noFill/>
          <a:ln/>
        </p:spPr>
        <p:txBody>
          <a:bodyPr wrap="square" lIns="0" tIns="0" rIns="0" bIns="0" rtlCol="0" anchor="ctr"/>
          <a:lstStyle/>
          <a:p>
            <a:pPr indent="0" marL="0">
              <a:buNone/>
            </a:pPr>
            <a:r>
              <a:rPr lang="en-US" sz="1200" b="1" spc="300" kern="0" dirty="0">
                <a:solidFill>
                  <a:srgbClr val="FF9900"/>
                </a:solidFill>
                <a:latin typeface="Calibri" pitchFamily="34" charset="0"/>
                <a:ea typeface="Calibri" pitchFamily="34" charset="-122"/>
                <a:cs typeface="Calibri" pitchFamily="34" charset="-120"/>
              </a:rPr>
              <a:t>POWERED BY</a:t>
            </a:r>
            <a:endParaRPr lang="en-US" sz="1200" dirty="0"/>
          </a:p>
        </p:txBody>
      </p:sp>
      <p:sp>
        <p:nvSpPr>
          <p:cNvPr id="29" name="Shape 18"/>
          <p:cNvSpPr/>
          <p:nvPr/>
        </p:nvSpPr>
        <p:spPr>
          <a:xfrm>
            <a:off x="640080" y="5303520"/>
            <a:ext cx="2057400" cy="566928"/>
          </a:xfrm>
          <a:prstGeom prst="roundRect">
            <a:avLst>
              <a:gd name="adj" fmla="val 50000"/>
            </a:avLst>
          </a:prstGeom>
          <a:solidFill>
            <a:srgbClr val="1A2330"/>
          </a:solidFill>
          <a:ln w="12700">
            <a:solidFill>
              <a:srgbClr val="3C4C60"/>
            </a:solidFill>
            <a:prstDash val="solid"/>
          </a:ln>
        </p:spPr>
      </p:sp>
      <p:sp>
        <p:nvSpPr>
          <p:cNvPr id="30" name="Text 19"/>
          <p:cNvSpPr/>
          <p:nvPr/>
        </p:nvSpPr>
        <p:spPr>
          <a:xfrm>
            <a:off x="640080" y="5303520"/>
            <a:ext cx="20574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Amazon Bedrock</a:t>
            </a:r>
            <a:endParaRPr lang="en-US" sz="1300" dirty="0"/>
          </a:p>
        </p:txBody>
      </p:sp>
      <p:sp>
        <p:nvSpPr>
          <p:cNvPr id="31" name="Shape 20"/>
          <p:cNvSpPr/>
          <p:nvPr/>
        </p:nvSpPr>
        <p:spPr>
          <a:xfrm>
            <a:off x="2880360" y="5303520"/>
            <a:ext cx="1600200" cy="566928"/>
          </a:xfrm>
          <a:prstGeom prst="roundRect">
            <a:avLst>
              <a:gd name="adj" fmla="val 50000"/>
            </a:avLst>
          </a:prstGeom>
          <a:solidFill>
            <a:srgbClr val="1A2330"/>
          </a:solidFill>
          <a:ln w="12700">
            <a:solidFill>
              <a:srgbClr val="3C4C60"/>
            </a:solidFill>
            <a:prstDash val="solid"/>
          </a:ln>
        </p:spPr>
      </p:sp>
      <p:sp>
        <p:nvSpPr>
          <p:cNvPr id="32" name="Text 21"/>
          <p:cNvSpPr/>
          <p:nvPr/>
        </p:nvSpPr>
        <p:spPr>
          <a:xfrm>
            <a:off x="2880360" y="5303520"/>
            <a:ext cx="16002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AWS Lambda</a:t>
            </a:r>
            <a:endParaRPr lang="en-US" sz="1300" dirty="0"/>
          </a:p>
        </p:txBody>
      </p:sp>
      <p:sp>
        <p:nvSpPr>
          <p:cNvPr id="33" name="Shape 22"/>
          <p:cNvSpPr/>
          <p:nvPr/>
        </p:nvSpPr>
        <p:spPr>
          <a:xfrm>
            <a:off x="4663440" y="5303520"/>
            <a:ext cx="1371600" cy="566928"/>
          </a:xfrm>
          <a:prstGeom prst="roundRect">
            <a:avLst>
              <a:gd name="adj" fmla="val 50000"/>
            </a:avLst>
          </a:prstGeom>
          <a:solidFill>
            <a:srgbClr val="1A2330"/>
          </a:solidFill>
          <a:ln w="12700">
            <a:solidFill>
              <a:srgbClr val="3C4C60"/>
            </a:solidFill>
            <a:prstDash val="solid"/>
          </a:ln>
        </p:spPr>
      </p:sp>
      <p:sp>
        <p:nvSpPr>
          <p:cNvPr id="34" name="Text 23"/>
          <p:cNvSpPr/>
          <p:nvPr/>
        </p:nvSpPr>
        <p:spPr>
          <a:xfrm>
            <a:off x="4663440" y="5303520"/>
            <a:ext cx="13716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DynamoDB</a:t>
            </a:r>
            <a:endParaRPr lang="en-US" sz="1300" dirty="0"/>
          </a:p>
        </p:txBody>
      </p:sp>
      <p:sp>
        <p:nvSpPr>
          <p:cNvPr id="35" name="Shape 24"/>
          <p:cNvSpPr/>
          <p:nvPr/>
        </p:nvSpPr>
        <p:spPr>
          <a:xfrm>
            <a:off x="6217920" y="5303520"/>
            <a:ext cx="1485900" cy="566928"/>
          </a:xfrm>
          <a:prstGeom prst="roundRect">
            <a:avLst>
              <a:gd name="adj" fmla="val 50000"/>
            </a:avLst>
          </a:prstGeom>
          <a:solidFill>
            <a:srgbClr val="1A2330"/>
          </a:solidFill>
          <a:ln w="12700">
            <a:solidFill>
              <a:srgbClr val="3C4C60"/>
            </a:solidFill>
            <a:prstDash val="solid"/>
          </a:ln>
        </p:spPr>
      </p:sp>
      <p:sp>
        <p:nvSpPr>
          <p:cNvPr id="36" name="Text 25"/>
          <p:cNvSpPr/>
          <p:nvPr/>
        </p:nvSpPr>
        <p:spPr>
          <a:xfrm>
            <a:off x="6217920" y="5303520"/>
            <a:ext cx="14859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Amazon S3</a:t>
            </a:r>
            <a:endParaRPr lang="en-US" sz="1300" dirty="0"/>
          </a:p>
        </p:txBody>
      </p:sp>
      <p:sp>
        <p:nvSpPr>
          <p:cNvPr id="37" name="Shape 26"/>
          <p:cNvSpPr/>
          <p:nvPr/>
        </p:nvSpPr>
        <p:spPr>
          <a:xfrm>
            <a:off x="7886700" y="5303520"/>
            <a:ext cx="1600200" cy="566928"/>
          </a:xfrm>
          <a:prstGeom prst="roundRect">
            <a:avLst>
              <a:gd name="adj" fmla="val 50000"/>
            </a:avLst>
          </a:prstGeom>
          <a:solidFill>
            <a:srgbClr val="1A2330"/>
          </a:solidFill>
          <a:ln w="12700">
            <a:solidFill>
              <a:srgbClr val="3C4C60"/>
            </a:solidFill>
            <a:prstDash val="solid"/>
          </a:ln>
        </p:spPr>
      </p:sp>
      <p:sp>
        <p:nvSpPr>
          <p:cNvPr id="38" name="Text 27"/>
          <p:cNvSpPr/>
          <p:nvPr/>
        </p:nvSpPr>
        <p:spPr>
          <a:xfrm>
            <a:off x="7886700" y="5303520"/>
            <a:ext cx="16002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Amazon SES</a:t>
            </a:r>
            <a:endParaRPr lang="en-US" sz="1300" dirty="0"/>
          </a:p>
        </p:txBody>
      </p:sp>
      <p:sp>
        <p:nvSpPr>
          <p:cNvPr id="39" name="Shape 28"/>
          <p:cNvSpPr/>
          <p:nvPr/>
        </p:nvSpPr>
        <p:spPr>
          <a:xfrm>
            <a:off x="9669780" y="5303520"/>
            <a:ext cx="1714500" cy="566928"/>
          </a:xfrm>
          <a:prstGeom prst="roundRect">
            <a:avLst>
              <a:gd name="adj" fmla="val 50000"/>
            </a:avLst>
          </a:prstGeom>
          <a:solidFill>
            <a:srgbClr val="1A2330"/>
          </a:solidFill>
          <a:ln w="12700">
            <a:solidFill>
              <a:srgbClr val="3C4C60"/>
            </a:solidFill>
            <a:prstDash val="solid"/>
          </a:ln>
        </p:spPr>
      </p:sp>
      <p:sp>
        <p:nvSpPr>
          <p:cNvPr id="40" name="Text 29"/>
          <p:cNvSpPr/>
          <p:nvPr/>
        </p:nvSpPr>
        <p:spPr>
          <a:xfrm>
            <a:off x="9669780" y="5303520"/>
            <a:ext cx="17145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API Gateway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502920"/>
            <a:ext cx="10972800" cy="777240"/>
          </a:xfrm>
          <a:prstGeom prst="rect">
            <a:avLst/>
          </a:prstGeom>
          <a:noFill/>
          <a:ln/>
        </p:spPr>
        <p:txBody>
          <a:bodyPr wrap="square" lIns="0" tIns="0" rIns="0" bIns="0" rtlCol="0" anchor="ctr"/>
          <a:lstStyle/>
          <a:p>
            <a:pPr indent="0" marL="0">
              <a:buNone/>
            </a:pPr>
            <a:r>
              <a:rPr lang="en-US" sz="3400" b="1" dirty="0">
                <a:solidFill>
                  <a:srgbClr val="232F3E"/>
                </a:solidFill>
                <a:latin typeface="Cambria" pitchFamily="34" charset="0"/>
                <a:ea typeface="Cambria" pitchFamily="34" charset="-122"/>
                <a:cs typeface="Cambria" pitchFamily="34" charset="-120"/>
              </a:rPr>
              <a:t>What the new hire actually sees</a:t>
            </a:r>
            <a:endParaRPr lang="en-US" sz="3400" dirty="0"/>
          </a:p>
        </p:txBody>
      </p:sp>
      <p:sp>
        <p:nvSpPr>
          <p:cNvPr id="3" name="Text 1"/>
          <p:cNvSpPr/>
          <p:nvPr/>
        </p:nvSpPr>
        <p:spPr>
          <a:xfrm>
            <a:off x="658368" y="1298448"/>
            <a:ext cx="105156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One live dashboard — no refresh, updates stream in over WebSockets.</a:t>
            </a:r>
            <a:endParaRPr lang="en-US" sz="1700" dirty="0"/>
          </a:p>
        </p:txBody>
      </p:sp>
      <p:sp>
        <p:nvSpPr>
          <p:cNvPr id="4" name="Shape 2"/>
          <p:cNvSpPr/>
          <p:nvPr/>
        </p:nvSpPr>
        <p:spPr>
          <a:xfrm>
            <a:off x="640080" y="1965960"/>
            <a:ext cx="3593592" cy="1417320"/>
          </a:xfrm>
          <a:prstGeom prst="roundRect">
            <a:avLst>
              <a:gd name="adj" fmla="val 6452"/>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932688" y="2240280"/>
            <a:ext cx="457200" cy="457200"/>
          </a:xfrm>
          <a:prstGeom prst="rect">
            <a:avLst/>
          </a:prstGeom>
        </p:spPr>
      </p:pic>
      <p:sp>
        <p:nvSpPr>
          <p:cNvPr id="6" name="Text 3"/>
          <p:cNvSpPr/>
          <p:nvPr/>
        </p:nvSpPr>
        <p:spPr>
          <a:xfrm>
            <a:off x="1554480" y="2203704"/>
            <a:ext cx="2496312" cy="502920"/>
          </a:xfrm>
          <a:prstGeom prst="rect">
            <a:avLst/>
          </a:prstGeom>
          <a:noFill/>
          <a:ln/>
        </p:spPr>
        <p:txBody>
          <a:bodyPr wrap="square" lIns="0" tIns="0" rIns="0" bIns="0" rtlCol="0" anchor="ctr"/>
          <a:lstStyle/>
          <a:p>
            <a:pPr indent="0" marL="0">
              <a:buNone/>
            </a:pPr>
            <a:r>
              <a:rPr lang="en-US" sz="1700" b="1" dirty="0">
                <a:solidFill>
                  <a:srgbClr val="232F3E"/>
                </a:solidFill>
                <a:latin typeface="Calibri" pitchFamily="34" charset="0"/>
                <a:ea typeface="Calibri" pitchFamily="34" charset="-122"/>
                <a:cs typeface="Calibri" pitchFamily="34" charset="-120"/>
              </a:rPr>
              <a:t>Profile card</a:t>
            </a:r>
            <a:endParaRPr lang="en-US" sz="1700" dirty="0"/>
          </a:p>
        </p:txBody>
      </p:sp>
      <p:sp>
        <p:nvSpPr>
          <p:cNvPr id="7" name="Text 4"/>
          <p:cNvSpPr/>
          <p:nvPr/>
        </p:nvSpPr>
        <p:spPr>
          <a:xfrm>
            <a:off x="950976" y="2752344"/>
            <a:ext cx="2990088" cy="548640"/>
          </a:xfrm>
          <a:prstGeom prst="rect">
            <a:avLst/>
          </a:prstGeom>
          <a:noFill/>
          <a:ln/>
        </p:spPr>
        <p:txBody>
          <a:bodyPr wrap="square" lIns="0" tIns="0" rIns="0" bIns="0" rtlCol="0" anchor="t"/>
          <a:lstStyle/>
          <a:p>
            <a:pPr indent="0" marL="0">
              <a:buNone/>
            </a:pPr>
            <a:r>
              <a:rPr lang="en-US" sz="1350" dirty="0">
                <a:solidFill>
                  <a:srgbClr val="5A6B7B"/>
                </a:solidFill>
                <a:latin typeface="Calibri" pitchFamily="34" charset="0"/>
                <a:ea typeface="Calibri" pitchFamily="34" charset="-122"/>
                <a:cs typeface="Calibri" pitchFamily="34" charset="-120"/>
              </a:rPr>
              <a:t>Photo, role, team &amp; contacts at a glance</a:t>
            </a:r>
            <a:endParaRPr lang="en-US" sz="1350" dirty="0"/>
          </a:p>
        </p:txBody>
      </p:sp>
      <p:sp>
        <p:nvSpPr>
          <p:cNvPr id="8" name="Shape 5"/>
          <p:cNvSpPr/>
          <p:nvPr/>
        </p:nvSpPr>
        <p:spPr>
          <a:xfrm>
            <a:off x="4480560" y="1965960"/>
            <a:ext cx="3593592" cy="1417320"/>
          </a:xfrm>
          <a:prstGeom prst="roundRect">
            <a:avLst>
              <a:gd name="adj" fmla="val 6452"/>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4773168" y="2240280"/>
            <a:ext cx="457200" cy="457200"/>
          </a:xfrm>
          <a:prstGeom prst="rect">
            <a:avLst/>
          </a:prstGeom>
        </p:spPr>
      </p:pic>
      <p:sp>
        <p:nvSpPr>
          <p:cNvPr id="10" name="Text 6"/>
          <p:cNvSpPr/>
          <p:nvPr/>
        </p:nvSpPr>
        <p:spPr>
          <a:xfrm>
            <a:off x="5394960" y="2203704"/>
            <a:ext cx="2496312" cy="502920"/>
          </a:xfrm>
          <a:prstGeom prst="rect">
            <a:avLst/>
          </a:prstGeom>
          <a:noFill/>
          <a:ln/>
        </p:spPr>
        <p:txBody>
          <a:bodyPr wrap="square" lIns="0" tIns="0" rIns="0" bIns="0" rtlCol="0" anchor="ctr"/>
          <a:lstStyle/>
          <a:p>
            <a:pPr indent="0" marL="0">
              <a:buNone/>
            </a:pPr>
            <a:r>
              <a:rPr lang="en-US" sz="1700" b="1" dirty="0">
                <a:solidFill>
                  <a:srgbClr val="232F3E"/>
                </a:solidFill>
                <a:latin typeface="Calibri" pitchFamily="34" charset="0"/>
                <a:ea typeface="Calibri" pitchFamily="34" charset="-122"/>
                <a:cs typeface="Calibri" pitchFamily="34" charset="-120"/>
              </a:rPr>
              <a:t>Interactive org chart</a:t>
            </a:r>
            <a:endParaRPr lang="en-US" sz="1700" dirty="0"/>
          </a:p>
        </p:txBody>
      </p:sp>
      <p:sp>
        <p:nvSpPr>
          <p:cNvPr id="11" name="Text 7"/>
          <p:cNvSpPr/>
          <p:nvPr/>
        </p:nvSpPr>
        <p:spPr>
          <a:xfrm>
            <a:off x="4791456" y="2752344"/>
            <a:ext cx="2990088" cy="548640"/>
          </a:xfrm>
          <a:prstGeom prst="rect">
            <a:avLst/>
          </a:prstGeom>
          <a:noFill/>
          <a:ln/>
        </p:spPr>
        <p:txBody>
          <a:bodyPr wrap="square" lIns="0" tIns="0" rIns="0" bIns="0" rtlCol="0" anchor="t"/>
          <a:lstStyle/>
          <a:p>
            <a:pPr indent="0" marL="0">
              <a:buNone/>
            </a:pPr>
            <a:r>
              <a:rPr lang="en-US" sz="1350" dirty="0">
                <a:solidFill>
                  <a:srgbClr val="5A6B7B"/>
                </a:solidFill>
                <a:latin typeface="Calibri" pitchFamily="34" charset="0"/>
                <a:ea typeface="Calibri" pitchFamily="34" charset="-122"/>
                <a:cs typeface="Calibri" pitchFamily="34" charset="-120"/>
              </a:rPr>
              <a:t>Click anyone to DM on Teams or email</a:t>
            </a:r>
            <a:endParaRPr lang="en-US" sz="1350" dirty="0"/>
          </a:p>
        </p:txBody>
      </p:sp>
      <p:sp>
        <p:nvSpPr>
          <p:cNvPr id="12" name="Shape 8"/>
          <p:cNvSpPr/>
          <p:nvPr/>
        </p:nvSpPr>
        <p:spPr>
          <a:xfrm>
            <a:off x="8321040" y="1965960"/>
            <a:ext cx="3593592" cy="1417320"/>
          </a:xfrm>
          <a:prstGeom prst="roundRect">
            <a:avLst>
              <a:gd name="adj" fmla="val 6452"/>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8613648" y="2240280"/>
            <a:ext cx="457200" cy="457200"/>
          </a:xfrm>
          <a:prstGeom prst="rect">
            <a:avLst/>
          </a:prstGeom>
        </p:spPr>
      </p:pic>
      <p:sp>
        <p:nvSpPr>
          <p:cNvPr id="14" name="Text 9"/>
          <p:cNvSpPr/>
          <p:nvPr/>
        </p:nvSpPr>
        <p:spPr>
          <a:xfrm>
            <a:off x="9235440" y="2203704"/>
            <a:ext cx="2496312" cy="502920"/>
          </a:xfrm>
          <a:prstGeom prst="rect">
            <a:avLst/>
          </a:prstGeom>
          <a:noFill/>
          <a:ln/>
        </p:spPr>
        <p:txBody>
          <a:bodyPr wrap="square" lIns="0" tIns="0" rIns="0" bIns="0" rtlCol="0" anchor="ctr"/>
          <a:lstStyle/>
          <a:p>
            <a:pPr indent="0" marL="0">
              <a:buNone/>
            </a:pPr>
            <a:r>
              <a:rPr lang="en-US" sz="1700" b="1" dirty="0">
                <a:solidFill>
                  <a:srgbClr val="232F3E"/>
                </a:solidFill>
                <a:latin typeface="Calibri" pitchFamily="34" charset="0"/>
                <a:ea typeface="Calibri" pitchFamily="34" charset="-122"/>
                <a:cs typeface="Calibri" pitchFamily="34" charset="-120"/>
              </a:rPr>
              <a:t>Live setup progress</a:t>
            </a:r>
            <a:endParaRPr lang="en-US" sz="1700" dirty="0"/>
          </a:p>
        </p:txBody>
      </p:sp>
      <p:sp>
        <p:nvSpPr>
          <p:cNvPr id="15" name="Text 10"/>
          <p:cNvSpPr/>
          <p:nvPr/>
        </p:nvSpPr>
        <p:spPr>
          <a:xfrm>
            <a:off x="8631936" y="2752344"/>
            <a:ext cx="2990088" cy="548640"/>
          </a:xfrm>
          <a:prstGeom prst="rect">
            <a:avLst/>
          </a:prstGeom>
          <a:noFill/>
          <a:ln/>
        </p:spPr>
        <p:txBody>
          <a:bodyPr wrap="square" lIns="0" tIns="0" rIns="0" bIns="0" rtlCol="0" anchor="t"/>
          <a:lstStyle/>
          <a:p>
            <a:pPr indent="0" marL="0">
              <a:buNone/>
            </a:pPr>
            <a:r>
              <a:rPr lang="en-US" sz="1350" dirty="0">
                <a:solidFill>
                  <a:srgbClr val="5A6B7B"/>
                </a:solidFill>
                <a:latin typeface="Calibri" pitchFamily="34" charset="0"/>
                <a:ea typeface="Calibri" pitchFamily="34" charset="-122"/>
                <a:cs typeface="Calibri" pitchFamily="34" charset="-120"/>
              </a:rPr>
              <a:t>Watch VPN→email→software hit 100%</a:t>
            </a:r>
            <a:endParaRPr lang="en-US" sz="1350" dirty="0"/>
          </a:p>
        </p:txBody>
      </p:sp>
      <p:sp>
        <p:nvSpPr>
          <p:cNvPr id="16" name="Shape 11"/>
          <p:cNvSpPr/>
          <p:nvPr/>
        </p:nvSpPr>
        <p:spPr>
          <a:xfrm>
            <a:off x="640080" y="3611880"/>
            <a:ext cx="3593592" cy="1417320"/>
          </a:xfrm>
          <a:prstGeom prst="roundRect">
            <a:avLst>
              <a:gd name="adj" fmla="val 6452"/>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932688" y="3886200"/>
            <a:ext cx="457200" cy="457200"/>
          </a:xfrm>
          <a:prstGeom prst="rect">
            <a:avLst/>
          </a:prstGeom>
        </p:spPr>
      </p:pic>
      <p:sp>
        <p:nvSpPr>
          <p:cNvPr id="18" name="Text 12"/>
          <p:cNvSpPr/>
          <p:nvPr/>
        </p:nvSpPr>
        <p:spPr>
          <a:xfrm>
            <a:off x="1554480" y="3849624"/>
            <a:ext cx="2496312" cy="502920"/>
          </a:xfrm>
          <a:prstGeom prst="rect">
            <a:avLst/>
          </a:prstGeom>
          <a:noFill/>
          <a:ln/>
        </p:spPr>
        <p:txBody>
          <a:bodyPr wrap="square" lIns="0" tIns="0" rIns="0" bIns="0" rtlCol="0" anchor="ctr"/>
          <a:lstStyle/>
          <a:p>
            <a:pPr indent="0" marL="0">
              <a:buNone/>
            </a:pPr>
            <a:r>
              <a:rPr lang="en-US" sz="1700" b="1" dirty="0">
                <a:solidFill>
                  <a:srgbClr val="232F3E"/>
                </a:solidFill>
                <a:latin typeface="Calibri" pitchFamily="34" charset="0"/>
                <a:ea typeface="Calibri" pitchFamily="34" charset="-122"/>
                <a:cs typeface="Calibri" pitchFamily="34" charset="-120"/>
              </a:rPr>
              <a:t>Daily tasks &amp; incidents</a:t>
            </a:r>
            <a:endParaRPr lang="en-US" sz="1700" dirty="0"/>
          </a:p>
        </p:txBody>
      </p:sp>
      <p:sp>
        <p:nvSpPr>
          <p:cNvPr id="19" name="Text 13"/>
          <p:cNvSpPr/>
          <p:nvPr/>
        </p:nvSpPr>
        <p:spPr>
          <a:xfrm>
            <a:off x="950976" y="4398264"/>
            <a:ext cx="2990088" cy="548640"/>
          </a:xfrm>
          <a:prstGeom prst="rect">
            <a:avLst/>
          </a:prstGeom>
          <a:noFill/>
          <a:ln/>
        </p:spPr>
        <p:txBody>
          <a:bodyPr wrap="square" lIns="0" tIns="0" rIns="0" bIns="0" rtlCol="0" anchor="t"/>
          <a:lstStyle/>
          <a:p>
            <a:pPr indent="0" marL="0">
              <a:buNone/>
            </a:pPr>
            <a:r>
              <a:rPr lang="en-US" sz="1350" dirty="0">
                <a:solidFill>
                  <a:srgbClr val="5A6B7B"/>
                </a:solidFill>
                <a:latin typeface="Calibri" pitchFamily="34" charset="0"/>
                <a:ea typeface="Calibri" pitchFamily="34" charset="-122"/>
                <a:cs typeface="Calibri" pitchFamily="34" charset="-120"/>
              </a:rPr>
              <a:t>Today's work, training &amp; priorities</a:t>
            </a:r>
            <a:endParaRPr lang="en-US" sz="1350" dirty="0"/>
          </a:p>
        </p:txBody>
      </p:sp>
      <p:sp>
        <p:nvSpPr>
          <p:cNvPr id="20" name="Shape 14"/>
          <p:cNvSpPr/>
          <p:nvPr/>
        </p:nvSpPr>
        <p:spPr>
          <a:xfrm>
            <a:off x="4480560" y="3611880"/>
            <a:ext cx="3593592" cy="1417320"/>
          </a:xfrm>
          <a:prstGeom prst="roundRect">
            <a:avLst>
              <a:gd name="adj" fmla="val 6452"/>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pic>
        <p:nvPicPr>
          <p:cNvPr id="21" name="Image 4" descr="preencoded.png">    </p:cNvPr>
          <p:cNvPicPr>
            <a:picLocks noChangeAspect="1"/>
          </p:cNvPicPr>
          <p:nvPr/>
        </p:nvPicPr>
        <p:blipFill>
          <a:blip r:embed="rId5"/>
          <a:stretch>
            <a:fillRect/>
          </a:stretch>
        </p:blipFill>
        <p:spPr>
          <a:xfrm>
            <a:off x="4773168" y="3886200"/>
            <a:ext cx="457200" cy="457200"/>
          </a:xfrm>
          <a:prstGeom prst="rect">
            <a:avLst/>
          </a:prstGeom>
        </p:spPr>
      </p:pic>
      <p:sp>
        <p:nvSpPr>
          <p:cNvPr id="22" name="Text 15"/>
          <p:cNvSpPr/>
          <p:nvPr/>
        </p:nvSpPr>
        <p:spPr>
          <a:xfrm>
            <a:off x="5394960" y="3849624"/>
            <a:ext cx="2496312" cy="502920"/>
          </a:xfrm>
          <a:prstGeom prst="rect">
            <a:avLst/>
          </a:prstGeom>
          <a:noFill/>
          <a:ln/>
        </p:spPr>
        <p:txBody>
          <a:bodyPr wrap="square" lIns="0" tIns="0" rIns="0" bIns="0" rtlCol="0" anchor="ctr"/>
          <a:lstStyle/>
          <a:p>
            <a:pPr indent="0" marL="0">
              <a:buNone/>
            </a:pPr>
            <a:r>
              <a:rPr lang="en-US" sz="1700" b="1" dirty="0">
                <a:solidFill>
                  <a:srgbClr val="232F3E"/>
                </a:solidFill>
                <a:latin typeface="Calibri" pitchFamily="34" charset="0"/>
                <a:ea typeface="Calibri" pitchFamily="34" charset="-122"/>
                <a:cs typeface="Calibri" pitchFamily="34" charset="-120"/>
              </a:rPr>
              <a:t>AI chat assistant</a:t>
            </a:r>
            <a:endParaRPr lang="en-US" sz="1700" dirty="0"/>
          </a:p>
        </p:txBody>
      </p:sp>
      <p:sp>
        <p:nvSpPr>
          <p:cNvPr id="23" name="Text 16"/>
          <p:cNvSpPr/>
          <p:nvPr/>
        </p:nvSpPr>
        <p:spPr>
          <a:xfrm>
            <a:off x="4791456" y="4398264"/>
            <a:ext cx="2990088" cy="548640"/>
          </a:xfrm>
          <a:prstGeom prst="rect">
            <a:avLst/>
          </a:prstGeom>
          <a:noFill/>
          <a:ln/>
        </p:spPr>
        <p:txBody>
          <a:bodyPr wrap="square" lIns="0" tIns="0" rIns="0" bIns="0" rtlCol="0" anchor="t"/>
          <a:lstStyle/>
          <a:p>
            <a:pPr indent="0" marL="0">
              <a:buNone/>
            </a:pPr>
            <a:r>
              <a:rPr lang="en-US" sz="1350" dirty="0">
                <a:solidFill>
                  <a:srgbClr val="5A6B7B"/>
                </a:solidFill>
                <a:latin typeface="Calibri" pitchFamily="34" charset="0"/>
                <a:ea typeface="Calibri" pitchFamily="34" charset="-122"/>
                <a:cs typeface="Calibri" pitchFamily="34" charset="-120"/>
              </a:rPr>
              <a:t>Ask anything — cited, role-aware answers</a:t>
            </a:r>
            <a:endParaRPr lang="en-US" sz="1350" dirty="0"/>
          </a:p>
        </p:txBody>
      </p:sp>
      <p:sp>
        <p:nvSpPr>
          <p:cNvPr id="24" name="Shape 17"/>
          <p:cNvSpPr/>
          <p:nvPr/>
        </p:nvSpPr>
        <p:spPr>
          <a:xfrm>
            <a:off x="8321040" y="3611880"/>
            <a:ext cx="3593592" cy="1417320"/>
          </a:xfrm>
          <a:prstGeom prst="roundRect">
            <a:avLst>
              <a:gd name="adj" fmla="val 6452"/>
            </a:avLst>
          </a:prstGeom>
          <a:solidFill>
            <a:srgbClr val="FFFFFF"/>
          </a:solidFill>
          <a:ln w="12700">
            <a:solidFill>
              <a:srgbClr val="E2E7EC"/>
            </a:solidFill>
            <a:prstDash val="solid"/>
          </a:ln>
          <a:effectLst>
            <a:outerShdw sx="100000" sy="100000" kx="0" ky="0" algn="bl" rotWithShape="0" blurRad="101600" dist="38100" dir="5400000">
              <a:srgbClr val="000000">
                <a:alpha val="10000"/>
              </a:srgbClr>
            </a:outerShdw>
          </a:effectLst>
        </p:spPr>
      </p:sp>
      <p:pic>
        <p:nvPicPr>
          <p:cNvPr id="25" name="Image 5" descr="preencoded.png">    </p:cNvPr>
          <p:cNvPicPr>
            <a:picLocks noChangeAspect="1"/>
          </p:cNvPicPr>
          <p:nvPr/>
        </p:nvPicPr>
        <p:blipFill>
          <a:blip r:embed="rId6"/>
          <a:stretch>
            <a:fillRect/>
          </a:stretch>
        </p:blipFill>
        <p:spPr>
          <a:xfrm>
            <a:off x="8613648" y="3886200"/>
            <a:ext cx="457200" cy="457200"/>
          </a:xfrm>
          <a:prstGeom prst="rect">
            <a:avLst/>
          </a:prstGeom>
        </p:spPr>
      </p:pic>
      <p:sp>
        <p:nvSpPr>
          <p:cNvPr id="26" name="Text 18"/>
          <p:cNvSpPr/>
          <p:nvPr/>
        </p:nvSpPr>
        <p:spPr>
          <a:xfrm>
            <a:off x="9235440" y="3849624"/>
            <a:ext cx="2496312" cy="502920"/>
          </a:xfrm>
          <a:prstGeom prst="rect">
            <a:avLst/>
          </a:prstGeom>
          <a:noFill/>
          <a:ln/>
        </p:spPr>
        <p:txBody>
          <a:bodyPr wrap="square" lIns="0" tIns="0" rIns="0" bIns="0" rtlCol="0" anchor="ctr"/>
          <a:lstStyle/>
          <a:p>
            <a:pPr indent="0" marL="0">
              <a:buNone/>
            </a:pPr>
            <a:r>
              <a:rPr lang="en-US" sz="1700" b="1" dirty="0">
                <a:solidFill>
                  <a:srgbClr val="232F3E"/>
                </a:solidFill>
                <a:latin typeface="Calibri" pitchFamily="34" charset="0"/>
                <a:ea typeface="Calibri" pitchFamily="34" charset="-122"/>
                <a:cs typeface="Calibri" pitchFamily="34" charset="-120"/>
              </a:rPr>
              <a:t>Smart FAQ</a:t>
            </a:r>
            <a:endParaRPr lang="en-US" sz="1700" dirty="0"/>
          </a:p>
        </p:txBody>
      </p:sp>
      <p:sp>
        <p:nvSpPr>
          <p:cNvPr id="27" name="Text 19"/>
          <p:cNvSpPr/>
          <p:nvPr/>
        </p:nvSpPr>
        <p:spPr>
          <a:xfrm>
            <a:off x="8631936" y="4398264"/>
            <a:ext cx="2990088" cy="548640"/>
          </a:xfrm>
          <a:prstGeom prst="rect">
            <a:avLst/>
          </a:prstGeom>
          <a:noFill/>
          <a:ln/>
        </p:spPr>
        <p:txBody>
          <a:bodyPr wrap="square" lIns="0" tIns="0" rIns="0" bIns="0" rtlCol="0" anchor="t"/>
          <a:lstStyle/>
          <a:p>
            <a:pPr indent="0" marL="0">
              <a:buNone/>
            </a:pPr>
            <a:r>
              <a:rPr lang="en-US" sz="1350" dirty="0">
                <a:solidFill>
                  <a:srgbClr val="5A6B7B"/>
                </a:solidFill>
                <a:latin typeface="Calibri" pitchFamily="34" charset="0"/>
                <a:ea typeface="Calibri" pitchFamily="34" charset="-122"/>
                <a:cs typeface="Calibri" pitchFamily="34" charset="-120"/>
              </a:rPr>
              <a:t>Categorized, searchable, self-service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502920"/>
            <a:ext cx="10972800" cy="777240"/>
          </a:xfrm>
          <a:prstGeom prst="rect">
            <a:avLst/>
          </a:prstGeom>
          <a:noFill/>
          <a:ln/>
        </p:spPr>
        <p:txBody>
          <a:bodyPr wrap="square" lIns="0" tIns="0" rIns="0" bIns="0" rtlCol="0" anchor="ctr"/>
          <a:lstStyle/>
          <a:p>
            <a:pPr indent="0" marL="0">
              <a:buNone/>
            </a:pPr>
            <a:r>
              <a:rPr lang="en-US" sz="3400" b="1" dirty="0">
                <a:solidFill>
                  <a:srgbClr val="232F3E"/>
                </a:solidFill>
                <a:latin typeface="Cambria" pitchFamily="34" charset="0"/>
                <a:ea typeface="Cambria" pitchFamily="34" charset="-122"/>
                <a:cs typeface="Cambria" pitchFamily="34" charset="-120"/>
              </a:rPr>
              <a:t>Why AWS-IQ wins</a:t>
            </a:r>
            <a:endParaRPr lang="en-US" sz="3400" dirty="0"/>
          </a:p>
        </p:txBody>
      </p:sp>
      <p:sp>
        <p:nvSpPr>
          <p:cNvPr id="3" name="Shape 1"/>
          <p:cNvSpPr/>
          <p:nvPr/>
        </p:nvSpPr>
        <p:spPr>
          <a:xfrm>
            <a:off x="640080" y="1554480"/>
            <a:ext cx="2697480" cy="310896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4" name="Shape 2"/>
          <p:cNvSpPr/>
          <p:nvPr/>
        </p:nvSpPr>
        <p:spPr>
          <a:xfrm>
            <a:off x="1485900" y="1874520"/>
            <a:ext cx="1005840" cy="1005840"/>
          </a:xfrm>
          <a:prstGeom prst="ellipse">
            <a:avLst/>
          </a:prstGeom>
          <a:solidFill>
            <a:srgbClr val="232F3E"/>
          </a:solidFill>
          <a:ln/>
        </p:spPr>
      </p:sp>
      <p:pic>
        <p:nvPicPr>
          <p:cNvPr id="5" name="Image 0" descr="preencoded.png">    </p:cNvPr>
          <p:cNvPicPr>
            <a:picLocks noChangeAspect="1"/>
          </p:cNvPicPr>
          <p:nvPr/>
        </p:nvPicPr>
        <p:blipFill>
          <a:blip r:embed="rId1"/>
          <a:stretch>
            <a:fillRect/>
          </a:stretch>
        </p:blipFill>
        <p:spPr>
          <a:xfrm>
            <a:off x="1714500" y="2103120"/>
            <a:ext cx="548640" cy="548640"/>
          </a:xfrm>
          <a:prstGeom prst="rect">
            <a:avLst/>
          </a:prstGeom>
        </p:spPr>
      </p:pic>
      <p:sp>
        <p:nvSpPr>
          <p:cNvPr id="6" name="Text 3"/>
          <p:cNvSpPr/>
          <p:nvPr/>
        </p:nvSpPr>
        <p:spPr>
          <a:xfrm>
            <a:off x="822960" y="3063240"/>
            <a:ext cx="2331720" cy="777240"/>
          </a:xfrm>
          <a:prstGeom prst="rect">
            <a:avLst/>
          </a:prstGeom>
          <a:noFill/>
          <a:ln/>
        </p:spPr>
        <p:txBody>
          <a:bodyPr wrap="square" lIns="0" tIns="0" rIns="0" bIns="0" rtlCol="0" anchor="t"/>
          <a:lstStyle/>
          <a:p>
            <a:pPr algn="ctr" indent="0" marL="0">
              <a:buNone/>
            </a:pPr>
            <a:r>
              <a:rPr lang="en-US" sz="1900" b="1" dirty="0">
                <a:solidFill>
                  <a:srgbClr val="232F3E"/>
                </a:solidFill>
                <a:latin typeface="Cambria" pitchFamily="34" charset="0"/>
                <a:ea typeface="Cambria" pitchFamily="34" charset="-122"/>
                <a:cs typeface="Cambria" pitchFamily="34" charset="-120"/>
              </a:rPr>
              <a:t>Weeks → minutes</a:t>
            </a:r>
            <a:endParaRPr lang="en-US" sz="1900" dirty="0"/>
          </a:p>
        </p:txBody>
      </p:sp>
      <p:sp>
        <p:nvSpPr>
          <p:cNvPr id="7" name="Text 4"/>
          <p:cNvSpPr/>
          <p:nvPr/>
        </p:nvSpPr>
        <p:spPr>
          <a:xfrm>
            <a:off x="914400" y="3840480"/>
            <a:ext cx="2148840" cy="777240"/>
          </a:xfrm>
          <a:prstGeom prst="rect">
            <a:avLst/>
          </a:prstGeom>
          <a:noFill/>
          <a:ln/>
        </p:spPr>
        <p:txBody>
          <a:bodyPr wrap="square" lIns="0" tIns="0" rIns="0" bIns="0" rtlCol="0" anchor="t"/>
          <a:lstStyle/>
          <a:p>
            <a:pPr algn="ctr" indent="0" marL="0">
              <a:buNone/>
            </a:pPr>
            <a:r>
              <a:rPr lang="en-US" sz="1350" dirty="0">
                <a:solidFill>
                  <a:srgbClr val="5A6B7B"/>
                </a:solidFill>
                <a:latin typeface="Calibri" pitchFamily="34" charset="0"/>
                <a:ea typeface="Calibri" pitchFamily="34" charset="-122"/>
                <a:cs typeface="Calibri" pitchFamily="34" charset="-120"/>
              </a:rPr>
              <a:t>Automated provisioning collapses onboarding time</a:t>
            </a:r>
            <a:endParaRPr lang="en-US" sz="1350" dirty="0"/>
          </a:p>
        </p:txBody>
      </p:sp>
      <p:sp>
        <p:nvSpPr>
          <p:cNvPr id="8" name="Shape 5"/>
          <p:cNvSpPr/>
          <p:nvPr/>
        </p:nvSpPr>
        <p:spPr>
          <a:xfrm>
            <a:off x="3538728" y="1554480"/>
            <a:ext cx="2697480" cy="310896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9" name="Shape 6"/>
          <p:cNvSpPr/>
          <p:nvPr/>
        </p:nvSpPr>
        <p:spPr>
          <a:xfrm>
            <a:off x="4384548" y="1874520"/>
            <a:ext cx="1005840" cy="1005840"/>
          </a:xfrm>
          <a:prstGeom prst="ellipse">
            <a:avLst/>
          </a:prstGeom>
          <a:solidFill>
            <a:srgbClr val="232F3E"/>
          </a:solidFill>
          <a:ln/>
        </p:spPr>
      </p:sp>
      <p:pic>
        <p:nvPicPr>
          <p:cNvPr id="10" name="Image 1" descr="preencoded.png">    </p:cNvPr>
          <p:cNvPicPr>
            <a:picLocks noChangeAspect="1"/>
          </p:cNvPicPr>
          <p:nvPr/>
        </p:nvPicPr>
        <p:blipFill>
          <a:blip r:embed="rId2"/>
          <a:stretch>
            <a:fillRect/>
          </a:stretch>
        </p:blipFill>
        <p:spPr>
          <a:xfrm>
            <a:off x="4613148" y="2103120"/>
            <a:ext cx="548640" cy="548640"/>
          </a:xfrm>
          <a:prstGeom prst="rect">
            <a:avLst/>
          </a:prstGeom>
        </p:spPr>
      </p:pic>
      <p:sp>
        <p:nvSpPr>
          <p:cNvPr id="11" name="Text 7"/>
          <p:cNvSpPr/>
          <p:nvPr/>
        </p:nvSpPr>
        <p:spPr>
          <a:xfrm>
            <a:off x="3721608" y="3063240"/>
            <a:ext cx="2331720" cy="777240"/>
          </a:xfrm>
          <a:prstGeom prst="rect">
            <a:avLst/>
          </a:prstGeom>
          <a:noFill/>
          <a:ln/>
        </p:spPr>
        <p:txBody>
          <a:bodyPr wrap="square" lIns="0" tIns="0" rIns="0" bIns="0" rtlCol="0" anchor="t"/>
          <a:lstStyle/>
          <a:p>
            <a:pPr algn="ctr" indent="0" marL="0">
              <a:buNone/>
            </a:pPr>
            <a:r>
              <a:rPr lang="en-US" sz="1900" b="1" dirty="0">
                <a:solidFill>
                  <a:srgbClr val="232F3E"/>
                </a:solidFill>
                <a:latin typeface="Cambria" pitchFamily="34" charset="0"/>
                <a:ea typeface="Cambria" pitchFamily="34" charset="-122"/>
                <a:cs typeface="Cambria" pitchFamily="34" charset="-120"/>
              </a:rPr>
              <a:t>True multi-agent</a:t>
            </a:r>
            <a:endParaRPr lang="en-US" sz="1900" dirty="0"/>
          </a:p>
        </p:txBody>
      </p:sp>
      <p:sp>
        <p:nvSpPr>
          <p:cNvPr id="12" name="Text 8"/>
          <p:cNvSpPr/>
          <p:nvPr/>
        </p:nvSpPr>
        <p:spPr>
          <a:xfrm>
            <a:off x="3813048" y="3840480"/>
            <a:ext cx="2148840" cy="777240"/>
          </a:xfrm>
          <a:prstGeom prst="rect">
            <a:avLst/>
          </a:prstGeom>
          <a:noFill/>
          <a:ln/>
        </p:spPr>
        <p:txBody>
          <a:bodyPr wrap="square" lIns="0" tIns="0" rIns="0" bIns="0" rtlCol="0" anchor="t"/>
          <a:lstStyle/>
          <a:p>
            <a:pPr algn="ctr" indent="0" marL="0">
              <a:buNone/>
            </a:pPr>
            <a:r>
              <a:rPr lang="en-US" sz="1350" dirty="0">
                <a:solidFill>
                  <a:srgbClr val="5A6B7B"/>
                </a:solidFill>
                <a:latin typeface="Calibri" pitchFamily="34" charset="0"/>
                <a:ea typeface="Calibri" pitchFamily="34" charset="-122"/>
                <a:cs typeface="Calibri" pitchFamily="34" charset="-120"/>
              </a:rPr>
              <a:t>Real Bedrock supervisor pattern, not one big prompt</a:t>
            </a:r>
            <a:endParaRPr lang="en-US" sz="1350" dirty="0"/>
          </a:p>
        </p:txBody>
      </p:sp>
      <p:sp>
        <p:nvSpPr>
          <p:cNvPr id="13" name="Shape 9"/>
          <p:cNvSpPr/>
          <p:nvPr/>
        </p:nvSpPr>
        <p:spPr>
          <a:xfrm>
            <a:off x="6437376" y="1554480"/>
            <a:ext cx="2697480" cy="310896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14" name="Shape 10"/>
          <p:cNvSpPr/>
          <p:nvPr/>
        </p:nvSpPr>
        <p:spPr>
          <a:xfrm>
            <a:off x="7283196" y="1874520"/>
            <a:ext cx="1005840" cy="1005840"/>
          </a:xfrm>
          <a:prstGeom prst="ellipse">
            <a:avLst/>
          </a:prstGeom>
          <a:solidFill>
            <a:srgbClr val="232F3E"/>
          </a:solidFill>
          <a:ln/>
        </p:spPr>
      </p:sp>
      <p:pic>
        <p:nvPicPr>
          <p:cNvPr id="15" name="Image 2" descr="preencoded.png">    </p:cNvPr>
          <p:cNvPicPr>
            <a:picLocks noChangeAspect="1"/>
          </p:cNvPicPr>
          <p:nvPr/>
        </p:nvPicPr>
        <p:blipFill>
          <a:blip r:embed="rId3"/>
          <a:stretch>
            <a:fillRect/>
          </a:stretch>
        </p:blipFill>
        <p:spPr>
          <a:xfrm>
            <a:off x="7511796" y="2103120"/>
            <a:ext cx="548640" cy="548640"/>
          </a:xfrm>
          <a:prstGeom prst="rect">
            <a:avLst/>
          </a:prstGeom>
        </p:spPr>
      </p:pic>
      <p:sp>
        <p:nvSpPr>
          <p:cNvPr id="16" name="Text 11"/>
          <p:cNvSpPr/>
          <p:nvPr/>
        </p:nvSpPr>
        <p:spPr>
          <a:xfrm>
            <a:off x="6620256" y="3063240"/>
            <a:ext cx="2331720" cy="777240"/>
          </a:xfrm>
          <a:prstGeom prst="rect">
            <a:avLst/>
          </a:prstGeom>
          <a:noFill/>
          <a:ln/>
        </p:spPr>
        <p:txBody>
          <a:bodyPr wrap="square" lIns="0" tIns="0" rIns="0" bIns="0" rtlCol="0" anchor="t"/>
          <a:lstStyle/>
          <a:p>
            <a:pPr algn="ctr" indent="0" marL="0">
              <a:buNone/>
            </a:pPr>
            <a:r>
              <a:rPr lang="en-US" sz="1900" b="1" dirty="0">
                <a:solidFill>
                  <a:srgbClr val="232F3E"/>
                </a:solidFill>
                <a:latin typeface="Cambria" pitchFamily="34" charset="0"/>
                <a:ea typeface="Cambria" pitchFamily="34" charset="-122"/>
                <a:cs typeface="Cambria" pitchFamily="34" charset="-120"/>
              </a:rPr>
              <a:t>Secure by design</a:t>
            </a:r>
            <a:endParaRPr lang="en-US" sz="1900" dirty="0"/>
          </a:p>
        </p:txBody>
      </p:sp>
      <p:sp>
        <p:nvSpPr>
          <p:cNvPr id="17" name="Text 12"/>
          <p:cNvSpPr/>
          <p:nvPr/>
        </p:nvSpPr>
        <p:spPr>
          <a:xfrm>
            <a:off x="6711696" y="3840480"/>
            <a:ext cx="2148840" cy="777240"/>
          </a:xfrm>
          <a:prstGeom prst="rect">
            <a:avLst/>
          </a:prstGeom>
          <a:noFill/>
          <a:ln/>
        </p:spPr>
        <p:txBody>
          <a:bodyPr wrap="square" lIns="0" tIns="0" rIns="0" bIns="0" rtlCol="0" anchor="t"/>
          <a:lstStyle/>
          <a:p>
            <a:pPr algn="ctr" indent="0" marL="0">
              <a:buNone/>
            </a:pPr>
            <a:r>
              <a:rPr lang="en-US" sz="1350" dirty="0">
                <a:solidFill>
                  <a:srgbClr val="5A6B7B"/>
                </a:solidFill>
                <a:latin typeface="Calibri" pitchFamily="34" charset="0"/>
                <a:ea typeface="Calibri" pitchFamily="34" charset="-122"/>
                <a:cs typeface="Calibri" pitchFamily="34" charset="-120"/>
              </a:rPr>
              <a:t>Role &amp; clearance filtering, least-privilege IAM</a:t>
            </a:r>
            <a:endParaRPr lang="en-US" sz="1350" dirty="0"/>
          </a:p>
        </p:txBody>
      </p:sp>
      <p:sp>
        <p:nvSpPr>
          <p:cNvPr id="18" name="Shape 13"/>
          <p:cNvSpPr/>
          <p:nvPr/>
        </p:nvSpPr>
        <p:spPr>
          <a:xfrm>
            <a:off x="9336024" y="1554480"/>
            <a:ext cx="2697480" cy="3108960"/>
          </a:xfrm>
          <a:prstGeom prst="roundRect">
            <a:avLst>
              <a:gd name="adj" fmla="val 3390"/>
            </a:avLst>
          </a:prstGeom>
          <a:solidFill>
            <a:srgbClr val="FFFFFF"/>
          </a:solidFill>
          <a:ln w="12700">
            <a:solidFill>
              <a:srgbClr val="E2E7EC"/>
            </a:solidFill>
            <a:prstDash val="solid"/>
          </a:ln>
          <a:effectLst>
            <a:outerShdw sx="100000" sy="100000" kx="0" ky="0" algn="bl" rotWithShape="0" blurRad="101600" dist="38100" dir="5400000">
              <a:srgbClr val="000000">
                <a:alpha val="12000"/>
              </a:srgbClr>
            </a:outerShdw>
          </a:effectLst>
        </p:spPr>
      </p:sp>
      <p:sp>
        <p:nvSpPr>
          <p:cNvPr id="19" name="Shape 14"/>
          <p:cNvSpPr/>
          <p:nvPr/>
        </p:nvSpPr>
        <p:spPr>
          <a:xfrm>
            <a:off x="10181844" y="1874520"/>
            <a:ext cx="1005840" cy="1005840"/>
          </a:xfrm>
          <a:prstGeom prst="ellipse">
            <a:avLst/>
          </a:prstGeom>
          <a:solidFill>
            <a:srgbClr val="232F3E"/>
          </a:solidFill>
          <a:ln/>
        </p:spPr>
      </p:sp>
      <p:pic>
        <p:nvPicPr>
          <p:cNvPr id="20" name="Image 3" descr="preencoded.png">    </p:cNvPr>
          <p:cNvPicPr>
            <a:picLocks noChangeAspect="1"/>
          </p:cNvPicPr>
          <p:nvPr/>
        </p:nvPicPr>
        <p:blipFill>
          <a:blip r:embed="rId4"/>
          <a:stretch>
            <a:fillRect/>
          </a:stretch>
        </p:blipFill>
        <p:spPr>
          <a:xfrm>
            <a:off x="10410444" y="2103120"/>
            <a:ext cx="548640" cy="548640"/>
          </a:xfrm>
          <a:prstGeom prst="rect">
            <a:avLst/>
          </a:prstGeom>
        </p:spPr>
      </p:pic>
      <p:sp>
        <p:nvSpPr>
          <p:cNvPr id="21" name="Text 15"/>
          <p:cNvSpPr/>
          <p:nvPr/>
        </p:nvSpPr>
        <p:spPr>
          <a:xfrm>
            <a:off x="9518904" y="3063240"/>
            <a:ext cx="2331720" cy="777240"/>
          </a:xfrm>
          <a:prstGeom prst="rect">
            <a:avLst/>
          </a:prstGeom>
          <a:noFill/>
          <a:ln/>
        </p:spPr>
        <p:txBody>
          <a:bodyPr wrap="square" lIns="0" tIns="0" rIns="0" bIns="0" rtlCol="0" anchor="t"/>
          <a:lstStyle/>
          <a:p>
            <a:pPr algn="ctr" indent="0" marL="0">
              <a:buNone/>
            </a:pPr>
            <a:r>
              <a:rPr lang="en-US" sz="1900" b="1" dirty="0">
                <a:solidFill>
                  <a:srgbClr val="232F3E"/>
                </a:solidFill>
                <a:latin typeface="Cambria" pitchFamily="34" charset="0"/>
                <a:ea typeface="Cambria" pitchFamily="34" charset="-122"/>
                <a:cs typeface="Cambria" pitchFamily="34" charset="-120"/>
              </a:rPr>
              <a:t>Serverless &amp; scalable</a:t>
            </a:r>
            <a:endParaRPr lang="en-US" sz="1900" dirty="0"/>
          </a:p>
        </p:txBody>
      </p:sp>
      <p:sp>
        <p:nvSpPr>
          <p:cNvPr id="22" name="Text 16"/>
          <p:cNvSpPr/>
          <p:nvPr/>
        </p:nvSpPr>
        <p:spPr>
          <a:xfrm>
            <a:off x="9610344" y="3840480"/>
            <a:ext cx="2148840" cy="777240"/>
          </a:xfrm>
          <a:prstGeom prst="rect">
            <a:avLst/>
          </a:prstGeom>
          <a:noFill/>
          <a:ln/>
        </p:spPr>
        <p:txBody>
          <a:bodyPr wrap="square" lIns="0" tIns="0" rIns="0" bIns="0" rtlCol="0" anchor="t"/>
          <a:lstStyle/>
          <a:p>
            <a:pPr algn="ctr" indent="0" marL="0">
              <a:buNone/>
            </a:pPr>
            <a:r>
              <a:rPr lang="en-US" sz="1350" dirty="0">
                <a:solidFill>
                  <a:srgbClr val="5A6B7B"/>
                </a:solidFill>
                <a:latin typeface="Calibri" pitchFamily="34" charset="0"/>
                <a:ea typeface="Calibri" pitchFamily="34" charset="-122"/>
                <a:cs typeface="Calibri" pitchFamily="34" charset="-120"/>
              </a:rPr>
              <a:t>Concurrent onboarding with zero ops overhead</a:t>
            </a:r>
            <a:endParaRPr lang="en-US" sz="1350" dirty="0"/>
          </a:p>
        </p:txBody>
      </p:sp>
      <p:sp>
        <p:nvSpPr>
          <p:cNvPr id="23" name="Shape 17"/>
          <p:cNvSpPr/>
          <p:nvPr/>
        </p:nvSpPr>
        <p:spPr>
          <a:xfrm>
            <a:off x="640080" y="5029200"/>
            <a:ext cx="10908792" cy="1005840"/>
          </a:xfrm>
          <a:prstGeom prst="roundRect">
            <a:avLst>
              <a:gd name="adj" fmla="val 9091"/>
            </a:avLst>
          </a:prstGeom>
          <a:solidFill>
            <a:srgbClr val="232F3E"/>
          </a:solidFill>
          <a:ln/>
          <a:effectLst>
            <a:outerShdw sx="100000" sy="100000" kx="0" ky="0" algn="bl" rotWithShape="0" blurRad="101600" dist="38100" dir="5400000">
              <a:srgbClr val="000000">
                <a:alpha val="15000"/>
              </a:srgbClr>
            </a:outerShdw>
          </a:effectLst>
        </p:spPr>
      </p:sp>
      <p:sp>
        <p:nvSpPr>
          <p:cNvPr id="24" name="Text 18"/>
          <p:cNvSpPr/>
          <p:nvPr/>
        </p:nvSpPr>
        <p:spPr>
          <a:xfrm>
            <a:off x="640080" y="5029200"/>
            <a:ext cx="10908792" cy="1005840"/>
          </a:xfrm>
          <a:prstGeom prst="rect">
            <a:avLst/>
          </a:prstGeom>
          <a:noFill/>
          <a:ln/>
        </p:spPr>
        <p:txBody>
          <a:bodyPr wrap="square" lIns="0" tIns="0" rIns="0" bIns="0" rtlCol="0" anchor="ctr"/>
          <a:lstStyle/>
          <a:p>
            <a:pPr algn="ctr" indent="0" marL="0">
              <a:buNone/>
            </a:pPr>
            <a:r>
              <a:rPr lang="en-US" sz="1900" b="1" i="1" dirty="0">
                <a:solidFill>
                  <a:srgbClr val="FFFFFF"/>
                </a:solidFill>
                <a:latin typeface="Calibri" pitchFamily="34" charset="0"/>
                <a:ea typeface="Calibri" pitchFamily="34" charset="-122"/>
                <a:cs typeface="Calibri" pitchFamily="34" charset="-120"/>
              </a:rPr>
              <a:t>Faster hires, lighter IT, happier day one — onboarding as a solved problem.</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5943600" y="1508760"/>
            <a:ext cx="274320" cy="274320"/>
          </a:xfrm>
          <a:prstGeom prst="ellipse">
            <a:avLst/>
          </a:prstGeom>
          <a:solidFill>
            <a:srgbClr val="FF9900"/>
          </a:solidFill>
          <a:ln/>
        </p:spPr>
      </p:sp>
      <p:sp>
        <p:nvSpPr>
          <p:cNvPr id="3" name="Text 1"/>
          <p:cNvSpPr/>
          <p:nvPr/>
        </p:nvSpPr>
        <p:spPr>
          <a:xfrm>
            <a:off x="822960" y="2240280"/>
            <a:ext cx="10515600" cy="137160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AWS-IQ</a:t>
            </a:r>
            <a:endParaRPr lang="en-US" sz="8000" dirty="0"/>
          </a:p>
        </p:txBody>
      </p:sp>
      <p:sp>
        <p:nvSpPr>
          <p:cNvPr id="4" name="Text 2"/>
          <p:cNvSpPr/>
          <p:nvPr/>
        </p:nvSpPr>
        <p:spPr>
          <a:xfrm>
            <a:off x="822960" y="3657600"/>
            <a:ext cx="10515600" cy="640080"/>
          </a:xfrm>
          <a:prstGeom prst="rect">
            <a:avLst/>
          </a:prstGeom>
          <a:noFill/>
          <a:ln/>
        </p:spPr>
        <p:txBody>
          <a:bodyPr wrap="square" lIns="0" tIns="0" rIns="0" bIns="0" rtlCol="0" anchor="ctr"/>
          <a:lstStyle/>
          <a:p>
            <a:pPr algn="ctr" indent="0" marL="0">
              <a:buNone/>
            </a:pPr>
            <a:r>
              <a:rPr lang="en-US" sz="2300" dirty="0">
                <a:solidFill>
                  <a:srgbClr val="CFD8E3"/>
                </a:solidFill>
                <a:latin typeface="Calibri" pitchFamily="34" charset="0"/>
                <a:ea typeface="Calibri" pitchFamily="34" charset="-122"/>
                <a:cs typeface="Calibri" pitchFamily="34" charset="-120"/>
              </a:rPr>
              <a:t>Onboarding, reimagined as a team of AI agents.</a:t>
            </a:r>
            <a:endParaRPr lang="en-US" sz="2300" dirty="0"/>
          </a:p>
        </p:txBody>
      </p:sp>
      <p:sp>
        <p:nvSpPr>
          <p:cNvPr id="5" name="Text 3"/>
          <p:cNvSpPr/>
          <p:nvPr/>
        </p:nvSpPr>
        <p:spPr>
          <a:xfrm>
            <a:off x="822960" y="4754880"/>
            <a:ext cx="10515600" cy="548640"/>
          </a:xfrm>
          <a:prstGeom prst="rect">
            <a:avLst/>
          </a:prstGeom>
          <a:noFill/>
          <a:ln/>
        </p:spPr>
        <p:txBody>
          <a:bodyPr wrap="square" lIns="0" tIns="0" rIns="0" bIns="0" rtlCol="0" anchor="ctr"/>
          <a:lstStyle/>
          <a:p>
            <a:pPr algn="ctr" indent="0" marL="0">
              <a:buNone/>
            </a:pPr>
            <a:r>
              <a:rPr lang="en-US" sz="1800" b="1" dirty="0">
                <a:solidFill>
                  <a:srgbClr val="FF9900"/>
                </a:solidFill>
                <a:latin typeface="Calibri" pitchFamily="34" charset="0"/>
                <a:ea typeface="Calibri" pitchFamily="34" charset="-122"/>
                <a:cs typeface="Calibri" pitchFamily="34" charset="-120"/>
              </a:rPr>
              <a:t>Thank you — we'd love your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AWS-IQ</dc:title>
  <dc:subject>PptxGenJS Presentation</dc:subject>
  <dc:creator>Eileen</dc:creator>
  <cp:lastModifiedBy>Eileen</cp:lastModifiedBy>
  <cp:revision>1</cp:revision>
  <dcterms:created xsi:type="dcterms:W3CDTF">2026-06-28T05:02:32Z</dcterms:created>
  <dcterms:modified xsi:type="dcterms:W3CDTF">2026-06-28T05:02:32Z</dcterms:modified>
</cp:coreProperties>
</file>